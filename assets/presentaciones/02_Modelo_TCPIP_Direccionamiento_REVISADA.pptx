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29984"/>
            <a:ext cx="12191695" cy="128016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658368"/>
            <a:ext cx="1828800" cy="347472"/>
          </a:xfrm>
          <a:prstGeom prst="roundRect">
            <a:avLst>
              <a:gd name="adj" fmla="val 21053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740664"/>
            <a:ext cx="1828800" cy="14630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Teórica 2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743200" y="70408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 1 — Fundamentos de Redes de Datos e IoT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316736"/>
            <a:ext cx="6583680" cy="114300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TCP/IP y Direccionamiento IP</a:t>
            </a:r>
            <a:endParaRPr lang="en-US" sz="29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2615184"/>
            <a:ext cx="6126480" cy="59436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Comprender cómo se comunican los dispositivos y cómo se identifican dentro de una red.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7315200" y="1078992"/>
            <a:ext cx="4160520" cy="3584448"/>
          </a:xfrm>
          <a:prstGeom prst="roundRect">
            <a:avLst>
              <a:gd name="adj" fmla="val 153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pic>
        <p:nvPicPr>
          <p:cNvPr id="11" name="Image 0" descr="/mnt/data/ghostwriter_images/generated/a_clean_infographic_diagram_style_illustration_a_2_batch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79792" y="1790507"/>
            <a:ext cx="3840480" cy="2161418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786384" y="5074920"/>
            <a:ext cx="10652760" cy="621792"/>
          </a:xfrm>
          <a:prstGeom prst="roundRect">
            <a:avLst>
              <a:gd name="adj" fmla="val 7353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0120" y="5266944"/>
            <a:ext cx="10287000" cy="1828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Comunicación por capas: aplicación, transporte, Internet y acceso a red.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685800" y="635508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800" dirty="0"/>
          </a:p>
        </p:txBody>
      </p:sp>
      <p:sp>
        <p:nvSpPr>
          <p:cNvPr id="15" name="Text 12"/>
          <p:cNvSpPr txBox="1"/>
          <p:nvPr/>
        </p:nvSpPr>
        <p:spPr>
          <a:xfrm>
            <a:off x="11064240" y="6355080"/>
            <a:ext cx="54864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Apoyo visual del tema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Modelo TCP/IP y conectividad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" y="1170432"/>
            <a:ext cx="10927080" cy="4434840"/>
          </a:xfrm>
          <a:prstGeom prst="roundRect">
            <a:avLst>
              <a:gd name="adj" fmla="val 103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pic>
        <p:nvPicPr>
          <p:cNvPr id="12" name="Image 0" descr="/mnt/data/ghostwriter_images/generated/a_clean_infographic_diagram_style_illustration_a_2_batch_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07345" y="1298448"/>
            <a:ext cx="7392550" cy="416052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749808" y="5687568"/>
            <a:ext cx="10698480" cy="402336"/>
          </a:xfrm>
          <a:prstGeom prst="roundRect">
            <a:avLst>
              <a:gd name="adj" fmla="val 11364"/>
            </a:avLst>
          </a:prstGeom>
          <a:solidFill>
            <a:srgbClr val="EAF4FF"/>
          </a:solidFill>
          <a:ln w="12700">
            <a:solidFill>
              <a:srgbClr val="C7DAF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96112" y="5815584"/>
            <a:ext cx="10378440" cy="128016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12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Relación entre capas TCP/IP, direccionamiento IPv4 y conectividad extremo a extremo en aplicaciones IoT.</a:t>
            </a:r>
            <a:endParaRPr lang="en-US" sz="11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2.3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Semana 1 — Fundamentos de Redes de Datos e IoT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Objetivos de aprendizaje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85800" y="1353312"/>
            <a:ext cx="5852160" cy="29260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 finalizar la sesión, el estudiante podrá: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777240" y="1783080"/>
            <a:ext cx="347472" cy="347472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" y="1879092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261872" y="1764792"/>
            <a:ext cx="4937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Interpretar la función de las capas del modelo TCP/IP.</a:t>
            </a:r>
            <a:endParaRPr lang="en-US" sz="1700" dirty="0"/>
          </a:p>
        </p:txBody>
      </p:sp>
      <p:sp>
        <p:nvSpPr>
          <p:cNvPr id="15" name="Shape 13"/>
          <p:cNvSpPr/>
          <p:nvPr/>
        </p:nvSpPr>
        <p:spPr>
          <a:xfrm>
            <a:off x="777240" y="2441448"/>
            <a:ext cx="347472" cy="347472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77240" y="253746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261872" y="2423160"/>
            <a:ext cx="4937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Explicar dirección IP, máscara, gateway, DNS y DHCP.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777240" y="3099816"/>
            <a:ext cx="347472" cy="347472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777240" y="3195828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261872" y="3081528"/>
            <a:ext cx="4937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Relacionar puertos y servicios con aplicaciones IoT.</a:t>
            </a:r>
            <a:endParaRPr lang="en-US" sz="1700" dirty="0"/>
          </a:p>
        </p:txBody>
      </p:sp>
      <p:sp>
        <p:nvSpPr>
          <p:cNvPr id="21" name="Shape 19"/>
          <p:cNvSpPr/>
          <p:nvPr/>
        </p:nvSpPr>
        <p:spPr>
          <a:xfrm>
            <a:off x="777240" y="3758184"/>
            <a:ext cx="347472" cy="347472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777240" y="3854196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261872" y="3739896"/>
            <a:ext cx="49377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Diagnosticar conectividad básica entre dispositivos.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6720840" y="1389888"/>
            <a:ext cx="4434840" cy="3246120"/>
          </a:xfrm>
          <a:prstGeom prst="roundRect">
            <a:avLst>
              <a:gd name="adj" fmla="val 2254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995160" y="1664208"/>
            <a:ext cx="3886200" cy="27432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Resultado observable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7059168" y="2221992"/>
            <a:ext cx="3749040" cy="16002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Taller corto de direccionamiento y pruebas de conectividad.</a:t>
            </a:r>
            <a:endParaRPr lang="en-US" sz="1800" dirty="0"/>
          </a:p>
        </p:txBody>
      </p:sp>
      <p:sp>
        <p:nvSpPr>
          <p:cNvPr id="27" name="Shape 25"/>
          <p:cNvSpPr/>
          <p:nvPr/>
        </p:nvSpPr>
        <p:spPr>
          <a:xfrm>
            <a:off x="7178040" y="4069080"/>
            <a:ext cx="3429000" cy="329184"/>
          </a:xfrm>
          <a:prstGeom prst="roundRect">
            <a:avLst>
              <a:gd name="adj" fmla="val 13889"/>
            </a:avLst>
          </a:prstGeom>
          <a:solidFill>
            <a:srgbClr val="FFFFFF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7269480" y="4178808"/>
            <a:ext cx="3246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 breve para clase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2.4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Fundamento conceptual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Comunicación por capas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1298448"/>
            <a:ext cx="10789920" cy="475488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modelo TCP/IP organiza el intercambio de datos y permite dividir problemas complejos en funciones específicas.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658368" y="1975104"/>
            <a:ext cx="3474720" cy="3108960"/>
          </a:xfrm>
          <a:prstGeom prst="roundRect">
            <a:avLst>
              <a:gd name="adj" fmla="val 1765"/>
            </a:avLst>
          </a:prstGeom>
          <a:solidFill>
            <a:srgbClr val="EAF4FF"/>
          </a:solidFill>
          <a:ln w="13970">
            <a:solidFill>
              <a:srgbClr val="D6E2EF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6968" y="2203704"/>
            <a:ext cx="475488" cy="475488"/>
          </a:xfrm>
          <a:prstGeom prst="ellipse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86968" y="2331720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1499616" y="2231136"/>
            <a:ext cx="2514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Aplicación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932688" y="2935224"/>
            <a:ext cx="2926080" cy="1755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Servicios usados por el usuario o la aplicación: HTTP, MQTT, DNS, dashboards y APIs.</a:t>
            </a:r>
            <a:endParaRPr lang="en-US" sz="1550" dirty="0"/>
          </a:p>
        </p:txBody>
      </p:sp>
      <p:sp>
        <p:nvSpPr>
          <p:cNvPr id="17" name="Shape 15"/>
          <p:cNvSpPr/>
          <p:nvPr/>
        </p:nvSpPr>
        <p:spPr>
          <a:xfrm>
            <a:off x="4361688" y="1975104"/>
            <a:ext cx="3474720" cy="3108960"/>
          </a:xfrm>
          <a:prstGeom prst="roundRect">
            <a:avLst>
              <a:gd name="adj" fmla="val 1765"/>
            </a:avLst>
          </a:prstGeom>
          <a:solidFill>
            <a:srgbClr val="EAF9F7"/>
          </a:solidFill>
          <a:ln w="13970">
            <a:solidFill>
              <a:srgbClr val="D6E2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90288" y="2203704"/>
            <a:ext cx="475488" cy="475488"/>
          </a:xfrm>
          <a:prstGeom prst="ellipse">
            <a:avLst/>
          </a:prstGeom>
          <a:solidFill>
            <a:srgbClr val="159895"/>
          </a:solidFill>
          <a:ln w="12700">
            <a:solidFill>
              <a:srgbClr val="159895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90288" y="2331720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20" name="Text 18"/>
          <p:cNvSpPr txBox="1"/>
          <p:nvPr/>
        </p:nvSpPr>
        <p:spPr>
          <a:xfrm>
            <a:off x="5202936" y="2231136"/>
            <a:ext cx="2514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Transporte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4636008" y="2935224"/>
            <a:ext cx="2926080" cy="1755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Gestiona comunicación extremo a extremo. TCP prioriza confiabilidad; UDP prioriza rapidez.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8065008" y="1975104"/>
            <a:ext cx="3474720" cy="3108960"/>
          </a:xfrm>
          <a:prstGeom prst="roundRect">
            <a:avLst>
              <a:gd name="adj" fmla="val 1765"/>
            </a:avLst>
          </a:prstGeom>
          <a:solidFill>
            <a:srgbClr val="FFF4E8"/>
          </a:solidFill>
          <a:ln w="13970">
            <a:solidFill>
              <a:srgbClr val="D6E2E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93608" y="2203704"/>
            <a:ext cx="475488" cy="475488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93608" y="2331720"/>
            <a:ext cx="47548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8906256" y="2231136"/>
            <a:ext cx="251460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Internet y acceso</a:t>
            </a:r>
            <a:endParaRPr lang="en-US" sz="1700" dirty="0"/>
          </a:p>
        </p:txBody>
      </p:sp>
      <p:sp>
        <p:nvSpPr>
          <p:cNvPr id="26" name="Text 24"/>
          <p:cNvSpPr txBox="1"/>
          <p:nvPr/>
        </p:nvSpPr>
        <p:spPr>
          <a:xfrm>
            <a:off x="8339328" y="2935224"/>
            <a:ext cx="2926080" cy="175564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 enruta paquetes; Ethernet/WiFi transportan tramas dentro del medio físico.</a:t>
            </a:r>
            <a:endParaRPr lang="en-US" sz="1550" dirty="0"/>
          </a:p>
        </p:txBody>
      </p:sp>
      <p:sp>
        <p:nvSpPr>
          <p:cNvPr id="27" name="Shape 25"/>
          <p:cNvSpPr/>
          <p:nvPr/>
        </p:nvSpPr>
        <p:spPr>
          <a:xfrm>
            <a:off x="1005840" y="5504688"/>
            <a:ext cx="10195560" cy="438912"/>
          </a:xfrm>
          <a:prstGeom prst="roundRect">
            <a:avLst>
              <a:gd name="adj" fmla="val 10417"/>
            </a:avLst>
          </a:prstGeom>
          <a:solidFill>
            <a:srgbClr val="F7FAFD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188720" y="5650992"/>
            <a:ext cx="98298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 conectar un ESP32 no basta con WiFi: se necesita direccionamiento y servicio de red.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2.5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Secuencia técnica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Ruta de un mensaje en la red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1234440"/>
            <a:ext cx="1069848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dato viaja encapsulado desde la aplicación hasta el medio físico y luego se reconstruye en destino.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94360" y="2029968"/>
            <a:ext cx="2062886" cy="1874520"/>
          </a:xfrm>
          <a:prstGeom prst="roundRect">
            <a:avLst>
              <a:gd name="adj" fmla="val 3415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69771" y="2286000"/>
            <a:ext cx="512064" cy="512064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369771" y="2432304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740664" y="2944368"/>
            <a:ext cx="177027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Dato</a:t>
            </a:r>
            <a:endParaRPr lang="en-US" sz="1250" dirty="0"/>
          </a:p>
        </p:txBody>
      </p:sp>
      <p:sp>
        <p:nvSpPr>
          <p:cNvPr id="16" name="Text 14"/>
          <p:cNvSpPr txBox="1"/>
          <p:nvPr/>
        </p:nvSpPr>
        <p:spPr>
          <a:xfrm>
            <a:off x="722376" y="3291840"/>
            <a:ext cx="180685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 o mensaje.</a:t>
            </a:r>
            <a:endParaRPr lang="en-US" sz="1040" dirty="0"/>
          </a:p>
        </p:txBody>
      </p:sp>
      <p:sp>
        <p:nvSpPr>
          <p:cNvPr id="17" name="Shape 15"/>
          <p:cNvSpPr/>
          <p:nvPr/>
        </p:nvSpPr>
        <p:spPr>
          <a:xfrm>
            <a:off x="2684678" y="2944368"/>
            <a:ext cx="128016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821838" y="2029968"/>
            <a:ext cx="2062886" cy="1874520"/>
          </a:xfrm>
          <a:prstGeom prst="roundRect">
            <a:avLst>
              <a:gd name="adj" fmla="val 3415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97250" y="2286000"/>
            <a:ext cx="512064" cy="512064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597250" y="2432304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2968142" y="2944368"/>
            <a:ext cx="177027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TCP/UDP</a:t>
            </a:r>
            <a:endParaRPr lang="en-US" sz="1250" dirty="0"/>
          </a:p>
        </p:txBody>
      </p:sp>
      <p:sp>
        <p:nvSpPr>
          <p:cNvPr id="22" name="Text 20"/>
          <p:cNvSpPr txBox="1"/>
          <p:nvPr/>
        </p:nvSpPr>
        <p:spPr>
          <a:xfrm>
            <a:off x="2949854" y="3291840"/>
            <a:ext cx="180685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Puerto y sesión.</a:t>
            </a:r>
            <a:endParaRPr lang="en-US" sz="1040" dirty="0"/>
          </a:p>
        </p:txBody>
      </p:sp>
      <p:sp>
        <p:nvSpPr>
          <p:cNvPr id="23" name="Shape 21"/>
          <p:cNvSpPr/>
          <p:nvPr/>
        </p:nvSpPr>
        <p:spPr>
          <a:xfrm>
            <a:off x="4912157" y="2944368"/>
            <a:ext cx="128016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5049317" y="2029968"/>
            <a:ext cx="2062886" cy="1874520"/>
          </a:xfrm>
          <a:prstGeom prst="roundRect">
            <a:avLst>
              <a:gd name="adj" fmla="val 3415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824728" y="2286000"/>
            <a:ext cx="512064" cy="512064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824728" y="2432304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5195621" y="2944368"/>
            <a:ext cx="177027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</a:t>
            </a:r>
            <a:endParaRPr lang="en-US" sz="1250" dirty="0"/>
          </a:p>
        </p:txBody>
      </p:sp>
      <p:sp>
        <p:nvSpPr>
          <p:cNvPr id="28" name="Text 26"/>
          <p:cNvSpPr txBox="1"/>
          <p:nvPr/>
        </p:nvSpPr>
        <p:spPr>
          <a:xfrm>
            <a:off x="5177333" y="3291840"/>
            <a:ext cx="180685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Origen y destino.</a:t>
            </a:r>
            <a:endParaRPr lang="en-US" sz="1040" dirty="0"/>
          </a:p>
        </p:txBody>
      </p:sp>
      <p:sp>
        <p:nvSpPr>
          <p:cNvPr id="29" name="Shape 27"/>
          <p:cNvSpPr/>
          <p:nvPr/>
        </p:nvSpPr>
        <p:spPr>
          <a:xfrm>
            <a:off x="7139635" y="2944368"/>
            <a:ext cx="128016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7276795" y="2029968"/>
            <a:ext cx="2062886" cy="1874520"/>
          </a:xfrm>
          <a:prstGeom prst="roundRect">
            <a:avLst>
              <a:gd name="adj" fmla="val 3415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8052206" y="2286000"/>
            <a:ext cx="512064" cy="512064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052206" y="2432304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3" name="Text 31"/>
          <p:cNvSpPr txBox="1"/>
          <p:nvPr/>
        </p:nvSpPr>
        <p:spPr>
          <a:xfrm>
            <a:off x="7423099" y="2944368"/>
            <a:ext cx="177027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WiFi/Ethernet</a:t>
            </a:r>
            <a:endParaRPr lang="en-US" sz="1250" dirty="0"/>
          </a:p>
        </p:txBody>
      </p:sp>
      <p:sp>
        <p:nvSpPr>
          <p:cNvPr id="34" name="Text 32"/>
          <p:cNvSpPr txBox="1"/>
          <p:nvPr/>
        </p:nvSpPr>
        <p:spPr>
          <a:xfrm>
            <a:off x="7404811" y="3291840"/>
            <a:ext cx="180685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Trama y enlace.</a:t>
            </a:r>
            <a:endParaRPr lang="en-US" sz="1040" dirty="0"/>
          </a:p>
        </p:txBody>
      </p:sp>
      <p:sp>
        <p:nvSpPr>
          <p:cNvPr id="35" name="Shape 33"/>
          <p:cNvSpPr/>
          <p:nvPr/>
        </p:nvSpPr>
        <p:spPr>
          <a:xfrm>
            <a:off x="9367114" y="2944368"/>
            <a:ext cx="128016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9504274" y="2029968"/>
            <a:ext cx="2062886" cy="1874520"/>
          </a:xfrm>
          <a:prstGeom prst="roundRect">
            <a:avLst>
              <a:gd name="adj" fmla="val 3415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0279685" y="2286000"/>
            <a:ext cx="512064" cy="512064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10279685" y="2432304"/>
            <a:ext cx="512064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39" name="Text 37"/>
          <p:cNvSpPr txBox="1"/>
          <p:nvPr/>
        </p:nvSpPr>
        <p:spPr>
          <a:xfrm>
            <a:off x="9650578" y="2944368"/>
            <a:ext cx="177027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Servidor</a:t>
            </a:r>
            <a:endParaRPr lang="en-US" sz="1250" dirty="0"/>
          </a:p>
        </p:txBody>
      </p:sp>
      <p:sp>
        <p:nvSpPr>
          <p:cNvPr id="40" name="Text 38"/>
          <p:cNvSpPr txBox="1"/>
          <p:nvPr/>
        </p:nvSpPr>
        <p:spPr>
          <a:xfrm>
            <a:off x="9632290" y="3291840"/>
            <a:ext cx="1806854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4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Recepción del dato.</a:t>
            </a:r>
            <a:endParaRPr lang="en-US" sz="1040" dirty="0"/>
          </a:p>
        </p:txBody>
      </p:sp>
      <p:sp>
        <p:nvSpPr>
          <p:cNvPr id="41" name="Shape 39"/>
          <p:cNvSpPr/>
          <p:nvPr/>
        </p:nvSpPr>
        <p:spPr>
          <a:xfrm>
            <a:off x="960120" y="4828032"/>
            <a:ext cx="10287000" cy="749808"/>
          </a:xfrm>
          <a:prstGeom prst="roundRect">
            <a:avLst>
              <a:gd name="adj" fmla="val 7317"/>
            </a:avLst>
          </a:prstGeom>
          <a:solidFill>
            <a:srgbClr val="FFF4E8"/>
          </a:solidFill>
          <a:ln w="12700">
            <a:solidFill>
              <a:srgbClr val="F6C89A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143000" y="5047488"/>
            <a:ext cx="9921240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conectividad se valida de extremo a extremo: nodo, red, gateway, servidor y servicio.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2.6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Análisis comparativo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Elementos de direccionamiento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1234440"/>
            <a:ext cx="10607040" cy="34747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75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 parámetro cumple una función concreta dentro de la comunicación IP.</a:t>
            </a:r>
            <a:endParaRPr lang="en-US" sz="1750" dirty="0"/>
          </a:p>
        </p:txBody>
      </p:sp>
      <p:sp>
        <p:nvSpPr>
          <p:cNvPr id="12" name="Shape 10"/>
          <p:cNvSpPr/>
          <p:nvPr/>
        </p:nvSpPr>
        <p:spPr>
          <a:xfrm>
            <a:off x="658368" y="1847088"/>
            <a:ext cx="3413760" cy="3401568"/>
          </a:xfrm>
          <a:prstGeom prst="roundRect">
            <a:avLst>
              <a:gd name="adj" fmla="val 1882"/>
            </a:avLst>
          </a:prstGeom>
          <a:solidFill>
            <a:srgbClr val="EAF4FF"/>
          </a:solidFill>
          <a:ln w="15240">
            <a:solidFill>
              <a:srgbClr val="073B7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6656" y="1865376"/>
            <a:ext cx="3377184" cy="502920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5528" y="2029968"/>
            <a:ext cx="3139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 y máscara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914400" y="27157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73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1133856" y="2670048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Identifican al dispositivo.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914400" y="32461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73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33856" y="3200400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Definen red y host.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914400" y="37764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73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1133856" y="3730752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Permiten saber si el destino es local.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43068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073B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1133856" y="4261104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Ejemplo: 192.168.1.25/24.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4392168" y="1847088"/>
            <a:ext cx="3413760" cy="3401568"/>
          </a:xfrm>
          <a:prstGeom prst="roundRect">
            <a:avLst>
              <a:gd name="adj" fmla="val 1882"/>
            </a:avLst>
          </a:prstGeom>
          <a:solidFill>
            <a:srgbClr val="EAF9F7"/>
          </a:solidFill>
          <a:ln w="15240">
            <a:solidFill>
              <a:srgbClr val="15989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410456" y="1865376"/>
            <a:ext cx="3377184" cy="502920"/>
          </a:xfrm>
          <a:prstGeom prst="rect">
            <a:avLst/>
          </a:prstGeom>
          <a:solidFill>
            <a:srgbClr val="159895"/>
          </a:solidFill>
          <a:ln w="12700">
            <a:solidFill>
              <a:srgbClr val="159895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529328" y="2029968"/>
            <a:ext cx="3139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Gateway y DNS</a:t>
            </a:r>
            <a:endParaRPr lang="en-US" sz="1450" dirty="0"/>
          </a:p>
        </p:txBody>
      </p:sp>
      <p:sp>
        <p:nvSpPr>
          <p:cNvPr id="26" name="Text 24"/>
          <p:cNvSpPr txBox="1"/>
          <p:nvPr/>
        </p:nvSpPr>
        <p:spPr>
          <a:xfrm>
            <a:off x="4648200" y="27157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867656" y="2670048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Gateway comunica con otras redes.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4648200" y="32461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4867656" y="3200400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DNS traduce nombres a direcciones.</a:t>
            </a:r>
            <a:endParaRPr lang="en-US" sz="1350" dirty="0"/>
          </a:p>
        </p:txBody>
      </p:sp>
      <p:sp>
        <p:nvSpPr>
          <p:cNvPr id="30" name="Text 28"/>
          <p:cNvSpPr txBox="1"/>
          <p:nvPr/>
        </p:nvSpPr>
        <p:spPr>
          <a:xfrm>
            <a:off x="4648200" y="37764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31" name="Text 29"/>
          <p:cNvSpPr txBox="1"/>
          <p:nvPr/>
        </p:nvSpPr>
        <p:spPr>
          <a:xfrm>
            <a:off x="4867656" y="3730752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 esenciales para servicios en Internet.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4648200" y="43068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33" name="Text 31"/>
          <p:cNvSpPr txBox="1"/>
          <p:nvPr/>
        </p:nvSpPr>
        <p:spPr>
          <a:xfrm>
            <a:off x="4867656" y="4261104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Errores aquí bloquean la nube.</a:t>
            </a:r>
            <a:endParaRPr lang="en-US" sz="1350" dirty="0"/>
          </a:p>
        </p:txBody>
      </p:sp>
      <p:sp>
        <p:nvSpPr>
          <p:cNvPr id="34" name="Shape 32"/>
          <p:cNvSpPr/>
          <p:nvPr/>
        </p:nvSpPr>
        <p:spPr>
          <a:xfrm>
            <a:off x="8125968" y="1847088"/>
            <a:ext cx="3413760" cy="3401568"/>
          </a:xfrm>
          <a:prstGeom prst="roundRect">
            <a:avLst>
              <a:gd name="adj" fmla="val 1882"/>
            </a:avLst>
          </a:prstGeom>
          <a:solidFill>
            <a:srgbClr val="FFF4E8"/>
          </a:solidFill>
          <a:ln w="15240">
            <a:solidFill>
              <a:srgbClr val="F28C18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144256" y="1865376"/>
            <a:ext cx="3377184" cy="502920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263128" y="2029968"/>
            <a:ext cx="31394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Puertos</a:t>
            </a:r>
            <a:endParaRPr lang="en-US" sz="1450" dirty="0"/>
          </a:p>
        </p:txBody>
      </p:sp>
      <p:sp>
        <p:nvSpPr>
          <p:cNvPr id="37" name="Text 35"/>
          <p:cNvSpPr txBox="1"/>
          <p:nvPr/>
        </p:nvSpPr>
        <p:spPr>
          <a:xfrm>
            <a:off x="8382000" y="2715768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8C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38" name="Text 36"/>
          <p:cNvSpPr txBox="1"/>
          <p:nvPr/>
        </p:nvSpPr>
        <p:spPr>
          <a:xfrm>
            <a:off x="8601456" y="2670048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Identifican servicios.</a:t>
            </a:r>
            <a:endParaRPr lang="en-US" sz="1350" dirty="0"/>
          </a:p>
        </p:txBody>
      </p:sp>
      <p:sp>
        <p:nvSpPr>
          <p:cNvPr id="39" name="Text 37"/>
          <p:cNvSpPr txBox="1"/>
          <p:nvPr/>
        </p:nvSpPr>
        <p:spPr>
          <a:xfrm>
            <a:off x="8382000" y="3246120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8C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40" name="Text 38"/>
          <p:cNvSpPr txBox="1"/>
          <p:nvPr/>
        </p:nvSpPr>
        <p:spPr>
          <a:xfrm>
            <a:off x="8601456" y="3200400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HTTP usa 80/443.</a:t>
            </a:r>
            <a:endParaRPr lang="en-US" sz="1350" dirty="0"/>
          </a:p>
        </p:txBody>
      </p:sp>
      <p:sp>
        <p:nvSpPr>
          <p:cNvPr id="41" name="Text 39"/>
          <p:cNvSpPr txBox="1"/>
          <p:nvPr/>
        </p:nvSpPr>
        <p:spPr>
          <a:xfrm>
            <a:off x="8382000" y="3776472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8C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42" name="Text 40"/>
          <p:cNvSpPr txBox="1"/>
          <p:nvPr/>
        </p:nvSpPr>
        <p:spPr>
          <a:xfrm>
            <a:off x="8601456" y="3730752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MQTT usa 1883/8883.</a:t>
            </a:r>
            <a:endParaRPr lang="en-US" sz="1350" dirty="0"/>
          </a:p>
        </p:txBody>
      </p:sp>
      <p:sp>
        <p:nvSpPr>
          <p:cNvPr id="43" name="Text 41"/>
          <p:cNvSpPr txBox="1"/>
          <p:nvPr/>
        </p:nvSpPr>
        <p:spPr>
          <a:xfrm>
            <a:off x="8382000" y="4306824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28C1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8601456" y="4261104"/>
            <a:ext cx="2682240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Facilitan diagnóstico y seguridad.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2.7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aplicado a Ingeniería Electrónica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Caso guía: conectar un ESP32 a la red local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389888"/>
            <a:ext cx="10652760" cy="658368"/>
          </a:xfrm>
          <a:prstGeom prst="roundRect">
            <a:avLst>
              <a:gd name="adj" fmla="val 9722"/>
            </a:avLst>
          </a:prstGeom>
          <a:solidFill>
            <a:srgbClr val="FFF4E8"/>
          </a:solidFill>
          <a:ln w="12700">
            <a:solidFill>
              <a:srgbClr val="F6C89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05840" y="1627632"/>
            <a:ext cx="10195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nodo IoT debe enviar mediciones hacia un broker MQTT disponible en la misma red o en Internet.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22960" y="2834640"/>
            <a:ext cx="1828800" cy="1143000"/>
          </a:xfrm>
          <a:prstGeom prst="roundRect">
            <a:avLst>
              <a:gd name="adj" fmla="val 4800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481328" y="2331720"/>
            <a:ext cx="493776" cy="493776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481328" y="2478024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950976" y="30358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 local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969264" y="3364992"/>
            <a:ext cx="153619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Identifica el ESP32.</a:t>
            </a:r>
            <a:endParaRPr lang="en-US" sz="1080" dirty="0"/>
          </a:p>
        </p:txBody>
      </p:sp>
      <p:sp>
        <p:nvSpPr>
          <p:cNvPr id="18" name="Shape 16"/>
          <p:cNvSpPr/>
          <p:nvPr/>
        </p:nvSpPr>
        <p:spPr>
          <a:xfrm>
            <a:off x="2724912" y="3401568"/>
            <a:ext cx="301752" cy="0"/>
          </a:xfrm>
          <a:prstGeom prst="line">
            <a:avLst/>
          </a:prstGeom>
          <a:noFill/>
          <a:ln w="2286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063240" y="2834640"/>
            <a:ext cx="1828800" cy="1143000"/>
          </a:xfrm>
          <a:prstGeom prst="roundRect">
            <a:avLst>
              <a:gd name="adj" fmla="val 4800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21608" y="2331720"/>
            <a:ext cx="493776" cy="493776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721608" y="2478024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3191256" y="30358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Gateway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3209544" y="3364992"/>
            <a:ext cx="153619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Salida de la LAN.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4965192" y="3401568"/>
            <a:ext cx="301752" cy="0"/>
          </a:xfrm>
          <a:prstGeom prst="line">
            <a:avLst/>
          </a:prstGeom>
          <a:noFill/>
          <a:ln w="2286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303520" y="2834640"/>
            <a:ext cx="1828800" cy="1143000"/>
          </a:xfrm>
          <a:prstGeom prst="roundRect">
            <a:avLst>
              <a:gd name="adj" fmla="val 4800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61888" y="2331720"/>
            <a:ext cx="493776" cy="493776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961888" y="2478024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431536" y="30358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DNS</a:t>
            </a:r>
            <a:endParaRPr lang="en-US" sz="1250" dirty="0"/>
          </a:p>
        </p:txBody>
      </p:sp>
      <p:sp>
        <p:nvSpPr>
          <p:cNvPr id="29" name="Text 27"/>
          <p:cNvSpPr txBox="1"/>
          <p:nvPr/>
        </p:nvSpPr>
        <p:spPr>
          <a:xfrm>
            <a:off x="5449824" y="3364992"/>
            <a:ext cx="153619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Resuelve el servidor.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7205472" y="3401568"/>
            <a:ext cx="301752" cy="0"/>
          </a:xfrm>
          <a:prstGeom prst="line">
            <a:avLst/>
          </a:prstGeom>
          <a:noFill/>
          <a:ln w="2286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7543800" y="2834640"/>
            <a:ext cx="1828800" cy="1143000"/>
          </a:xfrm>
          <a:prstGeom prst="roundRect">
            <a:avLst>
              <a:gd name="adj" fmla="val 4800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202168" y="2331720"/>
            <a:ext cx="493776" cy="493776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202168" y="2478024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7671816" y="30358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Puerto</a:t>
            </a:r>
            <a:endParaRPr lang="en-US" sz="1250" dirty="0"/>
          </a:p>
        </p:txBody>
      </p:sp>
      <p:sp>
        <p:nvSpPr>
          <p:cNvPr id="35" name="Text 33"/>
          <p:cNvSpPr txBox="1"/>
          <p:nvPr/>
        </p:nvSpPr>
        <p:spPr>
          <a:xfrm>
            <a:off x="7690104" y="3364992"/>
            <a:ext cx="153619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Servicio MQTT.</a:t>
            </a:r>
            <a:endParaRPr lang="en-US" sz="1080" dirty="0"/>
          </a:p>
        </p:txBody>
      </p:sp>
      <p:sp>
        <p:nvSpPr>
          <p:cNvPr id="36" name="Shape 34"/>
          <p:cNvSpPr/>
          <p:nvPr/>
        </p:nvSpPr>
        <p:spPr>
          <a:xfrm>
            <a:off x="9445752" y="3401568"/>
            <a:ext cx="301752" cy="0"/>
          </a:xfrm>
          <a:prstGeom prst="line">
            <a:avLst/>
          </a:prstGeom>
          <a:noFill/>
          <a:ln w="2286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9784080" y="2834640"/>
            <a:ext cx="1828800" cy="1143000"/>
          </a:xfrm>
          <a:prstGeom prst="roundRect">
            <a:avLst>
              <a:gd name="adj" fmla="val 4800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0442448" y="2331720"/>
            <a:ext cx="493776" cy="493776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10442448" y="2478024"/>
            <a:ext cx="493776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9912096" y="3035808"/>
            <a:ext cx="1572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Broker</a:t>
            </a:r>
            <a:endParaRPr lang="en-US" sz="1250" dirty="0"/>
          </a:p>
        </p:txBody>
      </p:sp>
      <p:sp>
        <p:nvSpPr>
          <p:cNvPr id="41" name="Text 39"/>
          <p:cNvSpPr txBox="1"/>
          <p:nvPr/>
        </p:nvSpPr>
        <p:spPr>
          <a:xfrm>
            <a:off x="9930384" y="3364992"/>
            <a:ext cx="1536192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Destino de mensajes.</a:t>
            </a:r>
            <a:endParaRPr lang="en-US" sz="1080" dirty="0"/>
          </a:p>
        </p:txBody>
      </p:sp>
      <p:sp>
        <p:nvSpPr>
          <p:cNvPr id="42" name="Shape 40"/>
          <p:cNvSpPr/>
          <p:nvPr/>
        </p:nvSpPr>
        <p:spPr>
          <a:xfrm>
            <a:off x="1143000" y="4892040"/>
            <a:ext cx="9921240" cy="731520"/>
          </a:xfrm>
          <a:prstGeom prst="roundRect">
            <a:avLst>
              <a:gd name="adj" fmla="val 7500"/>
            </a:avLst>
          </a:prstGeom>
          <a:solidFill>
            <a:srgbClr val="F7FAFD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1389888" y="5138928"/>
            <a:ext cx="9418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revisaría primero si el ESP32 se conecta al WiFi, pero no publica datos?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2.8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Verificación formativa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corta en clase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325880"/>
            <a:ext cx="10652760" cy="4160520"/>
          </a:xfrm>
          <a:prstGeom prst="roundRect">
            <a:avLst>
              <a:gd name="adj" fmla="val 1758"/>
            </a:avLst>
          </a:prstGeom>
          <a:solidFill>
            <a:srgbClr val="EAF9F7"/>
          </a:solidFill>
          <a:ln w="15240">
            <a:solidFill>
              <a:srgbClr val="BFE8E2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51560" y="1673352"/>
            <a:ext cx="9921240" cy="32004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Interpretar una configuración de red</a:t>
            </a:r>
            <a:endParaRPr lang="en-US" sz="21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2286000"/>
            <a:ext cx="9509760" cy="141732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7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Analice IP, máscara, gateway, DNS y puerto de servicio. Determine si un nodo pertenece a la misma subred que el servidor y proponga comandos de prueba.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1691640" y="4434840"/>
            <a:ext cx="873252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12700">
            <a:solidFill>
              <a:srgbClr val="A3D5CD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1874520" y="4562856"/>
            <a:ext cx="8366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Evidencia: explicación escrita de conectividad y diagnóstico básico.</a:t>
            </a:r>
            <a:endParaRPr lang="en-US" sz="12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2.9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Revisión conceptual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Preguntas de verificación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68680" y="1417320"/>
            <a:ext cx="103784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60704" y="1554480"/>
            <a:ext cx="228600" cy="228600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417320" y="1572768"/>
            <a:ext cx="9555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¿Para qué sirve la máscara de red?</a:t>
            </a:r>
            <a:endParaRPr lang="en-US" sz="1470" dirty="0"/>
          </a:p>
        </p:txBody>
      </p:sp>
      <p:sp>
        <p:nvSpPr>
          <p:cNvPr id="14" name="Shape 12"/>
          <p:cNvSpPr/>
          <p:nvPr/>
        </p:nvSpPr>
        <p:spPr>
          <a:xfrm>
            <a:off x="868680" y="2167128"/>
            <a:ext cx="103784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060704" y="2304288"/>
            <a:ext cx="228600" cy="228600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417320" y="2322576"/>
            <a:ext cx="9555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función cumple el gateway en una aplicación IoT?</a:t>
            </a:r>
            <a:endParaRPr lang="en-US" sz="1470" dirty="0"/>
          </a:p>
        </p:txBody>
      </p:sp>
      <p:sp>
        <p:nvSpPr>
          <p:cNvPr id="17" name="Shape 15"/>
          <p:cNvSpPr/>
          <p:nvPr/>
        </p:nvSpPr>
        <p:spPr>
          <a:xfrm>
            <a:off x="868680" y="2916936"/>
            <a:ext cx="103784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60704" y="3054096"/>
            <a:ext cx="228600" cy="228600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417320" y="3072384"/>
            <a:ext cx="9555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¿Cuál es la diferencia entre dirección IP y puerto?</a:t>
            </a:r>
            <a:endParaRPr lang="en-US" sz="1470" dirty="0"/>
          </a:p>
        </p:txBody>
      </p:sp>
      <p:sp>
        <p:nvSpPr>
          <p:cNvPr id="20" name="Shape 18"/>
          <p:cNvSpPr/>
          <p:nvPr/>
        </p:nvSpPr>
        <p:spPr>
          <a:xfrm>
            <a:off x="868680" y="3666744"/>
            <a:ext cx="103784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060704" y="3803904"/>
            <a:ext cx="228600" cy="228600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417320" y="3822192"/>
            <a:ext cx="9555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¿Por qué MQTT requiere conocer dirección y puerto del broker?</a:t>
            </a:r>
            <a:endParaRPr lang="en-US" sz="1470" dirty="0"/>
          </a:p>
        </p:txBody>
      </p:sp>
      <p:sp>
        <p:nvSpPr>
          <p:cNvPr id="23" name="Shape 21"/>
          <p:cNvSpPr/>
          <p:nvPr/>
        </p:nvSpPr>
        <p:spPr>
          <a:xfrm>
            <a:off x="868680" y="4416552"/>
            <a:ext cx="10378440" cy="50292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060704" y="4553712"/>
            <a:ext cx="228600" cy="228600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417320" y="4572000"/>
            <a:ext cx="95554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47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información entrega una prueba ping?</a:t>
            </a:r>
            <a:endParaRPr lang="en-US" sz="147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2.10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Aplicación progresiva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Conexión con el proyecto integrador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77240" y="1234440"/>
            <a:ext cx="10607040" cy="411480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5A677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proyecto final requerirá direccionamiento funcional y conectividad comprobable.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05840" y="2286000"/>
            <a:ext cx="1691640" cy="1691640"/>
          </a:xfrm>
          <a:prstGeom prst="roundRect">
            <a:avLst>
              <a:gd name="adj" fmla="val 3784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591056" y="2542032"/>
            <a:ext cx="502920" cy="502920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591056" y="2688336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1115568" y="3246120"/>
            <a:ext cx="14813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 del nodo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2761488" y="3127248"/>
            <a:ext cx="329184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3154680" y="2286000"/>
            <a:ext cx="1691640" cy="1691640"/>
          </a:xfrm>
          <a:prstGeom prst="roundRect">
            <a:avLst>
              <a:gd name="adj" fmla="val 3784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739896" y="2542032"/>
            <a:ext cx="502920" cy="502920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739896" y="2688336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3264408" y="3246120"/>
            <a:ext cx="14813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Gateway</a:t>
            </a:r>
            <a:endParaRPr lang="en-US" sz="1220" dirty="0"/>
          </a:p>
        </p:txBody>
      </p:sp>
      <p:sp>
        <p:nvSpPr>
          <p:cNvPr id="21" name="Shape 19"/>
          <p:cNvSpPr/>
          <p:nvPr/>
        </p:nvSpPr>
        <p:spPr>
          <a:xfrm>
            <a:off x="4910328" y="3127248"/>
            <a:ext cx="329184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5303520" y="2286000"/>
            <a:ext cx="1691640" cy="1691640"/>
          </a:xfrm>
          <a:prstGeom prst="roundRect">
            <a:avLst>
              <a:gd name="adj" fmla="val 3784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888736" y="2542032"/>
            <a:ext cx="502920" cy="502920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888736" y="2688336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5413248" y="3246120"/>
            <a:ext cx="14813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Broker</a:t>
            </a:r>
            <a:endParaRPr lang="en-US" sz="1220" dirty="0"/>
          </a:p>
        </p:txBody>
      </p:sp>
      <p:sp>
        <p:nvSpPr>
          <p:cNvPr id="26" name="Shape 24"/>
          <p:cNvSpPr/>
          <p:nvPr/>
        </p:nvSpPr>
        <p:spPr>
          <a:xfrm>
            <a:off x="7059168" y="3127248"/>
            <a:ext cx="329184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7452360" y="2286000"/>
            <a:ext cx="1691640" cy="1691640"/>
          </a:xfrm>
          <a:prstGeom prst="roundRect">
            <a:avLst>
              <a:gd name="adj" fmla="val 3784"/>
            </a:avLst>
          </a:prstGeom>
          <a:solidFill>
            <a:srgbClr val="EAF9F7"/>
          </a:solidFill>
          <a:ln w="12700">
            <a:solidFill>
              <a:srgbClr val="BFE8E2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8037576" y="2542032"/>
            <a:ext cx="502920" cy="502920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037576" y="2688336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7562088" y="3246120"/>
            <a:ext cx="14813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Puerto</a:t>
            </a:r>
            <a:endParaRPr lang="en-US" sz="1220" dirty="0"/>
          </a:p>
        </p:txBody>
      </p:sp>
      <p:sp>
        <p:nvSpPr>
          <p:cNvPr id="31" name="Shape 29"/>
          <p:cNvSpPr/>
          <p:nvPr/>
        </p:nvSpPr>
        <p:spPr>
          <a:xfrm>
            <a:off x="9208008" y="3127248"/>
            <a:ext cx="329184" cy="0"/>
          </a:xfrm>
          <a:prstGeom prst="line">
            <a:avLst/>
          </a:prstGeom>
          <a:noFill/>
          <a:ln w="25400">
            <a:solidFill>
              <a:srgbClr val="073B78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601200" y="2286000"/>
            <a:ext cx="1691640" cy="1691640"/>
          </a:xfrm>
          <a:prstGeom prst="roundRect">
            <a:avLst>
              <a:gd name="adj" fmla="val 3784"/>
            </a:avLst>
          </a:prstGeom>
          <a:solidFill>
            <a:srgbClr val="EAF4FF"/>
          </a:solidFill>
          <a:ln w="12700">
            <a:solidFill>
              <a:srgbClr val="B9D6F2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0186416" y="2542032"/>
            <a:ext cx="502920" cy="502920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186416" y="2688336"/>
            <a:ext cx="50292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9710928" y="3246120"/>
            <a:ext cx="1481328" cy="34747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2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Prueba</a:t>
            </a:r>
            <a:endParaRPr lang="en-US" sz="1220" dirty="0"/>
          </a:p>
        </p:txBody>
      </p:sp>
      <p:sp>
        <p:nvSpPr>
          <p:cNvPr id="36" name="Shape 34"/>
          <p:cNvSpPr/>
          <p:nvPr/>
        </p:nvSpPr>
        <p:spPr>
          <a:xfrm>
            <a:off x="1143000" y="4956048"/>
            <a:ext cx="9875520" cy="530352"/>
          </a:xfrm>
          <a:prstGeom prst="roundRect">
            <a:avLst>
              <a:gd name="adj" fmla="val 10345"/>
            </a:avLst>
          </a:prstGeom>
          <a:solidFill>
            <a:srgbClr val="FFF4E8"/>
          </a:solidFill>
          <a:ln w="12700">
            <a:solidFill>
              <a:srgbClr val="F6C89A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325880" y="5157216"/>
            <a:ext cx="9509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44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 sugerida: tabla de parámetros de red y evidencia de conectividad.</a:t>
            </a:r>
            <a:endParaRPr lang="en-US" sz="144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2.11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Ideas clave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Síntesis de la actividad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04672" y="155448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EAF4FF"/>
          </a:solidFill>
          <a:ln w="13970">
            <a:solidFill>
              <a:srgbClr val="073B7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9264" y="1856232"/>
            <a:ext cx="347472" cy="347472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69264" y="196596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1426464" y="1783080"/>
            <a:ext cx="2331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TCP/IP organiza la comunicación por funciones.</a:t>
            </a:r>
            <a:endParaRPr lang="en-US" sz="1280" dirty="0"/>
          </a:p>
        </p:txBody>
      </p:sp>
      <p:sp>
        <p:nvSpPr>
          <p:cNvPr id="15" name="Shape 13"/>
          <p:cNvSpPr/>
          <p:nvPr/>
        </p:nvSpPr>
        <p:spPr>
          <a:xfrm>
            <a:off x="4553712" y="155448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EAF9F7"/>
          </a:solidFill>
          <a:ln w="13970">
            <a:solidFill>
              <a:srgbClr val="15989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718304" y="1856232"/>
            <a:ext cx="347472" cy="347472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718304" y="196596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5175504" y="1783080"/>
            <a:ext cx="2331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IP identifica al dispositivo en la red.</a:t>
            </a:r>
            <a:endParaRPr lang="en-US" sz="1280" dirty="0"/>
          </a:p>
        </p:txBody>
      </p:sp>
      <p:sp>
        <p:nvSpPr>
          <p:cNvPr id="19" name="Shape 17"/>
          <p:cNvSpPr/>
          <p:nvPr/>
        </p:nvSpPr>
        <p:spPr>
          <a:xfrm>
            <a:off x="8302752" y="155448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FFF4E8"/>
          </a:solidFill>
          <a:ln w="13970">
            <a:solidFill>
              <a:srgbClr val="F28C1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467344" y="1856232"/>
            <a:ext cx="347472" cy="347472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467344" y="196596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2" name="Text 20"/>
          <p:cNvSpPr txBox="1"/>
          <p:nvPr/>
        </p:nvSpPr>
        <p:spPr>
          <a:xfrm>
            <a:off x="8924544" y="1783080"/>
            <a:ext cx="2331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gateway permite salir de la red local.</a:t>
            </a:r>
            <a:endParaRPr lang="en-US" sz="1280" dirty="0"/>
          </a:p>
        </p:txBody>
      </p:sp>
      <p:sp>
        <p:nvSpPr>
          <p:cNvPr id="23" name="Shape 21"/>
          <p:cNvSpPr/>
          <p:nvPr/>
        </p:nvSpPr>
        <p:spPr>
          <a:xfrm>
            <a:off x="804672" y="306324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EAF4FF"/>
          </a:solidFill>
          <a:ln w="13970">
            <a:solidFill>
              <a:srgbClr val="073B7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9264" y="3364992"/>
            <a:ext cx="347472" cy="347472"/>
          </a:xfrm>
          <a:prstGeom prst="ellipse">
            <a:avLst/>
          </a:prstGeom>
          <a:solidFill>
            <a:srgbClr val="073B7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69264" y="347472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26" name="Text 24"/>
          <p:cNvSpPr txBox="1"/>
          <p:nvPr/>
        </p:nvSpPr>
        <p:spPr>
          <a:xfrm>
            <a:off x="1426464" y="3291840"/>
            <a:ext cx="2331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puerto identifica el servicio de aplicación.</a:t>
            </a:r>
            <a:endParaRPr lang="en-US" sz="1280" dirty="0"/>
          </a:p>
        </p:txBody>
      </p:sp>
      <p:sp>
        <p:nvSpPr>
          <p:cNvPr id="27" name="Shape 25"/>
          <p:cNvSpPr/>
          <p:nvPr/>
        </p:nvSpPr>
        <p:spPr>
          <a:xfrm>
            <a:off x="4553712" y="306324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EAF9F7"/>
          </a:solidFill>
          <a:ln w="13970">
            <a:solidFill>
              <a:srgbClr val="15989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718304" y="3364992"/>
            <a:ext cx="347472" cy="347472"/>
          </a:xfrm>
          <a:prstGeom prst="ellipse">
            <a:avLst/>
          </a:prstGeom>
          <a:solidFill>
            <a:srgbClr val="159895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18304" y="347472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30" name="Text 28"/>
          <p:cNvSpPr txBox="1"/>
          <p:nvPr/>
        </p:nvSpPr>
        <p:spPr>
          <a:xfrm>
            <a:off x="5175504" y="3291840"/>
            <a:ext cx="2331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diagnóstico evita fallas ocultas.</a:t>
            </a:r>
            <a:endParaRPr lang="en-US" sz="1280" dirty="0"/>
          </a:p>
        </p:txBody>
      </p:sp>
      <p:sp>
        <p:nvSpPr>
          <p:cNvPr id="31" name="Shape 29"/>
          <p:cNvSpPr/>
          <p:nvPr/>
        </p:nvSpPr>
        <p:spPr>
          <a:xfrm>
            <a:off x="8302752" y="3063240"/>
            <a:ext cx="3154680" cy="960120"/>
          </a:xfrm>
          <a:prstGeom prst="roundRect">
            <a:avLst>
              <a:gd name="adj" fmla="val 6667"/>
            </a:avLst>
          </a:prstGeom>
          <a:solidFill>
            <a:srgbClr val="FFF4E8"/>
          </a:solidFill>
          <a:ln w="13970">
            <a:solidFill>
              <a:srgbClr val="F28C1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467344" y="3364992"/>
            <a:ext cx="347472" cy="347472"/>
          </a:xfrm>
          <a:prstGeom prst="ellipse">
            <a:avLst/>
          </a:prstGeom>
          <a:solidFill>
            <a:srgbClr val="F28C1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467344" y="3474720"/>
            <a:ext cx="347472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  <p:sp>
        <p:nvSpPr>
          <p:cNvPr id="34" name="Text 32"/>
          <p:cNvSpPr txBox="1"/>
          <p:nvPr/>
        </p:nvSpPr>
        <p:spPr>
          <a:xfrm>
            <a:off x="8924544" y="3291840"/>
            <a:ext cx="2331720" cy="411480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Toda aplicación IoT necesita conectividad verificable.</a:t>
            </a:r>
            <a:endParaRPr lang="en-US" sz="1280" dirty="0"/>
          </a:p>
        </p:txBody>
      </p:sp>
      <p:sp>
        <p:nvSpPr>
          <p:cNvPr id="35" name="Shape 33"/>
          <p:cNvSpPr/>
          <p:nvPr/>
        </p:nvSpPr>
        <p:spPr>
          <a:xfrm>
            <a:off x="1051560" y="5138928"/>
            <a:ext cx="10058400" cy="457200"/>
          </a:xfrm>
          <a:prstGeom prst="roundRect">
            <a:avLst>
              <a:gd name="adj" fmla="val 12000"/>
            </a:avLst>
          </a:prstGeom>
          <a:solidFill>
            <a:srgbClr val="062A57"/>
          </a:solidFill>
          <a:ln w="12700">
            <a:solidFill>
              <a:srgbClr val="062A57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1234440" y="5303520"/>
            <a:ext cx="96926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Conexión con el proyecto: definir y probar la ruta de datos entre el nodo y la plataforma.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4008"/>
          </a:xfrm>
          <a:prstGeom prst="rect">
            <a:avLst/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93992"/>
            <a:ext cx="12191695" cy="64008"/>
          </a:xfrm>
          <a:prstGeom prst="rect">
            <a:avLst/>
          </a:prstGeom>
          <a:solidFill>
            <a:srgbClr val="F28C18"/>
          </a:solidFill>
          <a:ln w="12700">
            <a:solidFill>
              <a:srgbClr val="F28C1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347472" y="6492240"/>
            <a:ext cx="475488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l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Curso Vacacional: Redes de Datos y Aplicaciones IoT</a:t>
            </a:r>
            <a:endParaRPr lang="en-US" sz="750" dirty="0"/>
          </a:p>
        </p:txBody>
      </p:sp>
      <p:sp>
        <p:nvSpPr>
          <p:cNvPr id="5" name="Text 3"/>
          <p:cNvSpPr txBox="1"/>
          <p:nvPr/>
        </p:nvSpPr>
        <p:spPr>
          <a:xfrm>
            <a:off x="11201400" y="6492240"/>
            <a:ext cx="502920" cy="164592"/>
          </a:xfrm>
          <a:prstGeom prst="rect">
            <a:avLst/>
          </a:prstGeom>
          <a:noFill/>
          <a:ln/>
        </p:spPr>
        <p:txBody>
          <a:bodyPr wrap="square" lIns="1016" tIns="1016" rIns="1016" bIns="1016" rtlCol="0" anchor="t">
            <a:normAutofit/>
          </a:bodyPr>
          <a:lstStyle/>
          <a:p>
            <a:pPr algn="r" indent="0" marL="0">
              <a:buNone/>
            </a:pPr>
            <a:r>
              <a:rPr lang="en-US" sz="750" dirty="0">
                <a:solidFill>
                  <a:srgbClr val="8290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2.12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411480" y="237744"/>
            <a:ext cx="1234440" cy="256032"/>
          </a:xfrm>
          <a:prstGeom prst="roundRect">
            <a:avLst>
              <a:gd name="adj" fmla="val 21429"/>
            </a:avLst>
          </a:prstGeom>
          <a:solidFill>
            <a:srgbClr val="073B78"/>
          </a:solidFill>
          <a:ln w="12700">
            <a:solidFill>
              <a:srgbClr val="073B78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11480" y="278892"/>
            <a:ext cx="1234440" cy="109728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2</a:t>
            </a:r>
            <a:endParaRPr lang="en-US" sz="850" dirty="0"/>
          </a:p>
        </p:txBody>
      </p:sp>
      <p:sp>
        <p:nvSpPr>
          <p:cNvPr id="8" name="Text 6"/>
          <p:cNvSpPr txBox="1"/>
          <p:nvPr/>
        </p:nvSpPr>
        <p:spPr>
          <a:xfrm>
            <a:off x="1828800" y="219456"/>
            <a:ext cx="6217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598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Lecturas para estudio independiente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475488" y="566928"/>
            <a:ext cx="10972800" cy="420624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Bibliografía y recursos de acceso libre</a:t>
            </a:r>
            <a:endParaRPr lang="en-US" sz="2700" dirty="0"/>
          </a:p>
        </p:txBody>
      </p:sp>
      <p:sp>
        <p:nvSpPr>
          <p:cNvPr id="10" name="Shape 8"/>
          <p:cNvSpPr/>
          <p:nvPr/>
        </p:nvSpPr>
        <p:spPr>
          <a:xfrm>
            <a:off x="475488" y="1024128"/>
            <a:ext cx="1325880" cy="0"/>
          </a:xfrm>
          <a:prstGeom prst="line">
            <a:avLst/>
          </a:prstGeom>
          <a:noFill/>
          <a:ln w="25400">
            <a:solidFill>
              <a:srgbClr val="F28C1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" y="1353312"/>
            <a:ext cx="10698480" cy="475488"/>
          </a:xfrm>
          <a:prstGeom prst="roundRect">
            <a:avLst>
              <a:gd name="adj" fmla="val 7692"/>
            </a:avLst>
          </a:prstGeom>
          <a:solidFill>
            <a:srgbClr val="EAF4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960120" y="1453896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Peter L. Dordal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3154680" y="1453896"/>
            <a:ext cx="4800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Introduction to Computer Networks</a:t>
            </a:r>
            <a:endParaRPr lang="en-US" sz="1100" dirty="0"/>
          </a:p>
        </p:txBody>
      </p:sp>
      <p:sp>
        <p:nvSpPr>
          <p:cNvPr id="14" name="Text 12"/>
          <p:cNvSpPr txBox="1"/>
          <p:nvPr/>
        </p:nvSpPr>
        <p:spPr>
          <a:xfrm>
            <a:off x="8092440" y="1453896"/>
            <a:ext cx="3063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open.umn.edu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777240" y="2066544"/>
            <a:ext cx="10698480" cy="475488"/>
          </a:xfrm>
          <a:prstGeom prst="roundRect">
            <a:avLst>
              <a:gd name="adj" fmla="val 7692"/>
            </a:avLst>
          </a:prstGeom>
          <a:solidFill>
            <a:srgbClr val="EAF9F7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60120" y="2167128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Peterson y Davie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154680" y="2167128"/>
            <a:ext cx="4800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Computer Networks: A Systems Approach</a:t>
            </a:r>
            <a:endParaRPr lang="en-US" sz="1100" dirty="0"/>
          </a:p>
        </p:txBody>
      </p:sp>
      <p:sp>
        <p:nvSpPr>
          <p:cNvPr id="18" name="Text 16"/>
          <p:cNvSpPr txBox="1"/>
          <p:nvPr/>
        </p:nvSpPr>
        <p:spPr>
          <a:xfrm>
            <a:off x="8092440" y="2167128"/>
            <a:ext cx="3063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systemsapproach.org / GitHub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777240" y="2779776"/>
            <a:ext cx="10698480" cy="475488"/>
          </a:xfrm>
          <a:prstGeom prst="roundRect">
            <a:avLst>
              <a:gd name="adj" fmla="val 7692"/>
            </a:avLst>
          </a:prstGeom>
          <a:solidFill>
            <a:srgbClr val="EAF4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60120" y="2880360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Universidad de Colima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3154680" y="2880360"/>
            <a:ext cx="4800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Internet de las cosas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092440" y="2880360"/>
            <a:ext cx="3063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PDF de acceso libre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777240" y="3493008"/>
            <a:ext cx="10698480" cy="475488"/>
          </a:xfrm>
          <a:prstGeom prst="roundRect">
            <a:avLst>
              <a:gd name="adj" fmla="val 7692"/>
            </a:avLst>
          </a:prstGeom>
          <a:solidFill>
            <a:srgbClr val="EAF9F7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960120" y="3593592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Internet Society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3154680" y="3593592"/>
            <a:ext cx="4800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Internet de las Cosas: una breve reseña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092440" y="3593592"/>
            <a:ext cx="3063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internetsociety.org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777240" y="4206240"/>
            <a:ext cx="10698480" cy="475488"/>
          </a:xfrm>
          <a:prstGeom prst="roundRect">
            <a:avLst>
              <a:gd name="adj" fmla="val 7692"/>
            </a:avLst>
          </a:prstGeom>
          <a:solidFill>
            <a:srgbClr val="EAF4FF"/>
          </a:solidFill>
          <a:ln w="12700">
            <a:solidFill>
              <a:srgbClr val="D6E2EF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60120" y="4306824"/>
            <a:ext cx="2103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Node-RED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3154680" y="4306824"/>
            <a:ext cx="4800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00" dirty="0">
                <a:solidFill>
                  <a:srgbClr val="10203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Documentación oficial y cookbook MQTT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8092440" y="4306824"/>
            <a:ext cx="3063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buNone/>
            </a:pPr>
            <a:r>
              <a:rPr lang="en-US" sz="1020" dirty="0">
                <a:solidFill>
                  <a:srgbClr val="0C737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nodered.org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1005840" y="5559552"/>
            <a:ext cx="10149840" cy="411480"/>
          </a:xfrm>
          <a:prstGeom prst="roundRect">
            <a:avLst>
              <a:gd name="adj" fmla="val 11111"/>
            </a:avLst>
          </a:prstGeom>
          <a:solidFill>
            <a:srgbClr val="FFF4E8"/>
          </a:solidFill>
          <a:ln w="12700">
            <a:solidFill>
              <a:srgbClr val="F6C89A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1143000" y="5705856"/>
            <a:ext cx="98755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80" b="1" dirty="0">
                <a:solidFill>
                  <a:srgbClr val="062A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Sugerencia docente: asignar una lectura breve antes de cada evaluación parcial.</a:t>
            </a:r>
            <a:endParaRPr lang="en-US" sz="12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Universidad Antonio Nariño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Modelo TCP/IP y Direccionamiento IP</dc:title>
  <dc:subject>Modelo TCP/IP y Direccionamiento IP</dc:subject>
  <dc:creator>UAN - Curso Vacacional Redes de Datos e IoT</dc:creator>
  <cp:lastModifiedBy>UAN - Curso Vacacional Redes de Datos e IoT</cp:lastModifiedBy>
  <cp:revision>1</cp:revision>
  <dcterms:created xsi:type="dcterms:W3CDTF">2026-06-21T04:04:19Z</dcterms:created>
  <dcterms:modified xsi:type="dcterms:W3CDTF">2026-06-21T04:04:19Z</dcterms:modified>
</cp:coreProperties>
</file>