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A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D"/>
          </a:solidFill>
          <a:ln w="12700">
            <a:solidFill>
              <a:srgbClr val="F7FAFD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73B78"/>
          </a:solidFill>
          <a:ln w="12700">
            <a:solidFill>
              <a:srgbClr val="073B78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729984"/>
            <a:ext cx="12191695" cy="128016"/>
          </a:xfrm>
          <a:prstGeom prst="rect">
            <a:avLst/>
          </a:prstGeom>
          <a:solidFill>
            <a:srgbClr val="F28C18"/>
          </a:solidFill>
          <a:ln w="12700">
            <a:solidFill>
              <a:srgbClr val="F28C18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658368"/>
            <a:ext cx="1828800" cy="347472"/>
          </a:xfrm>
          <a:prstGeom prst="roundRect">
            <a:avLst>
              <a:gd name="adj" fmla="val 21053"/>
            </a:avLst>
          </a:prstGeom>
          <a:solidFill>
            <a:srgbClr val="073B78"/>
          </a:solidFill>
          <a:ln w="12700">
            <a:solidFill>
              <a:srgbClr val="073B78">
                <a:alpha val="0"/>
              </a:srgbClr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85800" y="740664"/>
            <a:ext cx="1828800" cy="14630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Actividad Teórica 3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2743200" y="704088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5989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Semana 2 — Protocolos y Comunicación de Datos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1316736"/>
            <a:ext cx="6583680" cy="114300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062A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Protocolos IoT: HTTP, MQTT y WebSocket</a:t>
            </a:r>
            <a:endParaRPr lang="en-US" sz="2900" dirty="0"/>
          </a:p>
        </p:txBody>
      </p:sp>
      <p:sp>
        <p:nvSpPr>
          <p:cNvPr id="9" name="Text 7"/>
          <p:cNvSpPr txBox="1"/>
          <p:nvPr/>
        </p:nvSpPr>
        <p:spPr>
          <a:xfrm>
            <a:off x="713232" y="2615184"/>
            <a:ext cx="6126480" cy="59436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5A677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Comparar protocolos de comunicación para seleccionar el más apropiado según el tipo de aplicación IoT.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7315200" y="1078992"/>
            <a:ext cx="4160520" cy="3584448"/>
          </a:xfrm>
          <a:prstGeom prst="roundRect">
            <a:avLst>
              <a:gd name="adj" fmla="val 1531"/>
            </a:avLst>
          </a:prstGeom>
          <a:solidFill>
            <a:srgbClr val="FFFFFF"/>
          </a:solidFill>
          <a:ln w="12700">
            <a:solidFill>
              <a:srgbClr val="D6E2EF"/>
            </a:solidFill>
            <a:prstDash val="solid"/>
          </a:ln>
        </p:spPr>
      </p:sp>
      <p:pic>
        <p:nvPicPr>
          <p:cNvPr id="11" name="Image 0" descr="/mnt/data/ghostwriter_images/generated/a_clean_infographic_slide_style_illustration_wide_3_batch_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79792" y="1790507"/>
            <a:ext cx="3840480" cy="2161418"/>
          </a:xfrm>
          <a:prstGeom prst="rect">
            <a:avLst/>
          </a:prstGeom>
        </p:spPr>
      </p:pic>
      <p:sp>
        <p:nvSpPr>
          <p:cNvPr id="12" name="Shape 9"/>
          <p:cNvSpPr/>
          <p:nvPr/>
        </p:nvSpPr>
        <p:spPr>
          <a:xfrm>
            <a:off x="786384" y="5074920"/>
            <a:ext cx="10652760" cy="621792"/>
          </a:xfrm>
          <a:prstGeom prst="roundRect">
            <a:avLst>
              <a:gd name="adj" fmla="val 7353"/>
            </a:avLst>
          </a:prstGeom>
          <a:solidFill>
            <a:srgbClr val="FFFFFF"/>
          </a:solidFill>
          <a:ln w="12700">
            <a:solidFill>
              <a:srgbClr val="D6E2EF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960120" y="5266944"/>
            <a:ext cx="10287000" cy="1828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62A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todos los protocolos resuelven el mismo problema: depende del flujo de datos y la frecuencia.</a:t>
            </a:r>
            <a:endParaRPr lang="en-US" sz="1250" dirty="0"/>
          </a:p>
        </p:txBody>
      </p:sp>
      <p:sp>
        <p:nvSpPr>
          <p:cNvPr id="14" name="Text 11"/>
          <p:cNvSpPr txBox="1"/>
          <p:nvPr/>
        </p:nvSpPr>
        <p:spPr>
          <a:xfrm>
            <a:off x="685800" y="6355080"/>
            <a:ext cx="4754880" cy="16459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8290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Curso Vacacional: Redes de Datos y Aplicaciones IoT</a:t>
            </a:r>
            <a:endParaRPr lang="en-US" sz="800" dirty="0"/>
          </a:p>
        </p:txBody>
      </p:sp>
      <p:sp>
        <p:nvSpPr>
          <p:cNvPr id="15" name="Text 12"/>
          <p:cNvSpPr txBox="1"/>
          <p:nvPr/>
        </p:nvSpPr>
        <p:spPr>
          <a:xfrm>
            <a:off x="11064240" y="6355080"/>
            <a:ext cx="548640" cy="16459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8290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3.1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073B78"/>
          </a:solidFill>
          <a:ln w="12700">
            <a:solidFill>
              <a:srgbClr val="073B78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93992"/>
            <a:ext cx="12191695" cy="64008"/>
          </a:xfrm>
          <a:prstGeom prst="rect">
            <a:avLst/>
          </a:prstGeom>
          <a:solidFill>
            <a:srgbClr val="F28C18"/>
          </a:solidFill>
          <a:ln w="12700">
            <a:solidFill>
              <a:srgbClr val="F28C18">
                <a:alpha val="0"/>
              </a:srgbClr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347472" y="6492240"/>
            <a:ext cx="4754880" cy="16459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8290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Curso Vacacional: Redes de Datos y Aplicaciones IoT</a:t>
            </a:r>
            <a:endParaRPr lang="en-US" sz="750" dirty="0"/>
          </a:p>
        </p:txBody>
      </p:sp>
      <p:sp>
        <p:nvSpPr>
          <p:cNvPr id="5" name="Text 3"/>
          <p:cNvSpPr txBox="1"/>
          <p:nvPr/>
        </p:nvSpPr>
        <p:spPr>
          <a:xfrm>
            <a:off x="11201400" y="6492240"/>
            <a:ext cx="502920" cy="16459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r" indent="0" marL="0">
              <a:buNone/>
            </a:pPr>
            <a:r>
              <a:rPr lang="en-US" sz="750" dirty="0">
                <a:solidFill>
                  <a:srgbClr val="8290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3.2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411480" y="237744"/>
            <a:ext cx="1234440" cy="256032"/>
          </a:xfrm>
          <a:prstGeom prst="roundRect">
            <a:avLst>
              <a:gd name="adj" fmla="val 21429"/>
            </a:avLst>
          </a:prstGeom>
          <a:solidFill>
            <a:srgbClr val="073B78"/>
          </a:solidFill>
          <a:ln w="12700">
            <a:solidFill>
              <a:srgbClr val="073B78">
                <a:alpha val="0"/>
              </a:srgbClr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11480" y="278892"/>
            <a:ext cx="1234440" cy="10972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Actividad 3</a:t>
            </a:r>
            <a:endParaRPr lang="en-US" sz="850" dirty="0"/>
          </a:p>
        </p:txBody>
      </p:sp>
      <p:sp>
        <p:nvSpPr>
          <p:cNvPr id="8" name="Text 6"/>
          <p:cNvSpPr txBox="1"/>
          <p:nvPr/>
        </p:nvSpPr>
        <p:spPr>
          <a:xfrm>
            <a:off x="1828800" y="219456"/>
            <a:ext cx="6217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5989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Apoyo visual del tema</a:t>
            </a:r>
            <a:endParaRPr lang="en-US" sz="950" dirty="0"/>
          </a:p>
        </p:txBody>
      </p:sp>
      <p:sp>
        <p:nvSpPr>
          <p:cNvPr id="9" name="Text 7"/>
          <p:cNvSpPr txBox="1"/>
          <p:nvPr/>
        </p:nvSpPr>
        <p:spPr>
          <a:xfrm>
            <a:off x="475488" y="566928"/>
            <a:ext cx="10972800" cy="42062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62A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Comparación de protocolos IoT</a:t>
            </a:r>
            <a:endParaRPr lang="en-US" sz="2700" dirty="0"/>
          </a:p>
        </p:txBody>
      </p:sp>
      <p:sp>
        <p:nvSpPr>
          <p:cNvPr id="10" name="Shape 8"/>
          <p:cNvSpPr/>
          <p:nvPr/>
        </p:nvSpPr>
        <p:spPr>
          <a:xfrm>
            <a:off x="475488" y="1024128"/>
            <a:ext cx="1325880" cy="0"/>
          </a:xfrm>
          <a:prstGeom prst="line">
            <a:avLst/>
          </a:prstGeom>
          <a:noFill/>
          <a:ln w="25400">
            <a:solidFill>
              <a:srgbClr val="F28C1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40080" y="1170432"/>
            <a:ext cx="10927080" cy="4434840"/>
          </a:xfrm>
          <a:prstGeom prst="roundRect">
            <a:avLst>
              <a:gd name="adj" fmla="val 1031"/>
            </a:avLst>
          </a:prstGeom>
          <a:solidFill>
            <a:srgbClr val="FFFFFF"/>
          </a:solidFill>
          <a:ln w="12700">
            <a:solidFill>
              <a:srgbClr val="D6E2EF"/>
            </a:solidFill>
            <a:prstDash val="solid"/>
          </a:ln>
        </p:spPr>
      </p:sp>
      <p:pic>
        <p:nvPicPr>
          <p:cNvPr id="12" name="Image 0" descr="/mnt/data/ghostwriter_images/generated/a_clean_infographic_slide_style_illustration_wide_3_batch_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407345" y="1298448"/>
            <a:ext cx="7392550" cy="4160520"/>
          </a:xfrm>
          <a:prstGeom prst="rect">
            <a:avLst/>
          </a:prstGeom>
        </p:spPr>
      </p:pic>
      <p:sp>
        <p:nvSpPr>
          <p:cNvPr id="13" name="Shape 10"/>
          <p:cNvSpPr/>
          <p:nvPr/>
        </p:nvSpPr>
        <p:spPr>
          <a:xfrm>
            <a:off x="749808" y="5687568"/>
            <a:ext cx="10698480" cy="402336"/>
          </a:xfrm>
          <a:prstGeom prst="roundRect">
            <a:avLst>
              <a:gd name="adj" fmla="val 11364"/>
            </a:avLst>
          </a:prstGeom>
          <a:solidFill>
            <a:srgbClr val="EAF4FF"/>
          </a:solidFill>
          <a:ln w="12700">
            <a:solidFill>
              <a:srgbClr val="C7DAF0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896112" y="5815584"/>
            <a:ext cx="10378440" cy="12801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ctr" indent="0" marL="0">
              <a:buNone/>
            </a:pPr>
            <a:r>
              <a:rPr lang="en-US" sz="1120" dirty="0">
                <a:solidFill>
                  <a:srgbClr val="5A677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Comparación visual de HTTP, MQTT y WebSocket para comprender sus diferencias funcionales en IoT.</a:t>
            </a:r>
            <a:endParaRPr lang="en-US" sz="112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073B78"/>
          </a:solidFill>
          <a:ln w="12700">
            <a:solidFill>
              <a:srgbClr val="073B78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93992"/>
            <a:ext cx="12191695" cy="64008"/>
          </a:xfrm>
          <a:prstGeom prst="rect">
            <a:avLst/>
          </a:prstGeom>
          <a:solidFill>
            <a:srgbClr val="F28C18"/>
          </a:solidFill>
          <a:ln w="12700">
            <a:solidFill>
              <a:srgbClr val="F28C18">
                <a:alpha val="0"/>
              </a:srgbClr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347472" y="6492240"/>
            <a:ext cx="4754880" cy="16459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8290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Curso Vacacional: Redes de Datos y Aplicaciones IoT</a:t>
            </a:r>
            <a:endParaRPr lang="en-US" sz="750" dirty="0"/>
          </a:p>
        </p:txBody>
      </p:sp>
      <p:sp>
        <p:nvSpPr>
          <p:cNvPr id="5" name="Text 3"/>
          <p:cNvSpPr txBox="1"/>
          <p:nvPr/>
        </p:nvSpPr>
        <p:spPr>
          <a:xfrm>
            <a:off x="11201400" y="6492240"/>
            <a:ext cx="502920" cy="16459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r" indent="0" marL="0">
              <a:buNone/>
            </a:pPr>
            <a:r>
              <a:rPr lang="en-US" sz="750" dirty="0">
                <a:solidFill>
                  <a:srgbClr val="8290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3.3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411480" y="237744"/>
            <a:ext cx="1234440" cy="256032"/>
          </a:xfrm>
          <a:prstGeom prst="roundRect">
            <a:avLst>
              <a:gd name="adj" fmla="val 21429"/>
            </a:avLst>
          </a:prstGeom>
          <a:solidFill>
            <a:srgbClr val="073B78"/>
          </a:solidFill>
          <a:ln w="12700">
            <a:solidFill>
              <a:srgbClr val="073B78">
                <a:alpha val="0"/>
              </a:srgbClr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11480" y="278892"/>
            <a:ext cx="1234440" cy="10972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Actividad 3</a:t>
            </a:r>
            <a:endParaRPr lang="en-US" sz="850" dirty="0"/>
          </a:p>
        </p:txBody>
      </p:sp>
      <p:sp>
        <p:nvSpPr>
          <p:cNvPr id="8" name="Text 6"/>
          <p:cNvSpPr txBox="1"/>
          <p:nvPr/>
        </p:nvSpPr>
        <p:spPr>
          <a:xfrm>
            <a:off x="1828800" y="219456"/>
            <a:ext cx="6217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5989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Semana 2 — Protocolos y Comunicación de Datos</a:t>
            </a:r>
            <a:endParaRPr lang="en-US" sz="950" dirty="0"/>
          </a:p>
        </p:txBody>
      </p:sp>
      <p:sp>
        <p:nvSpPr>
          <p:cNvPr id="9" name="Text 7"/>
          <p:cNvSpPr txBox="1"/>
          <p:nvPr/>
        </p:nvSpPr>
        <p:spPr>
          <a:xfrm>
            <a:off x="475488" y="566928"/>
            <a:ext cx="10972800" cy="42062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62A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Objetivos de aprendizaje</a:t>
            </a:r>
            <a:endParaRPr lang="en-US" sz="2700" dirty="0"/>
          </a:p>
        </p:txBody>
      </p:sp>
      <p:sp>
        <p:nvSpPr>
          <p:cNvPr id="10" name="Shape 8"/>
          <p:cNvSpPr/>
          <p:nvPr/>
        </p:nvSpPr>
        <p:spPr>
          <a:xfrm>
            <a:off x="475488" y="1024128"/>
            <a:ext cx="1325880" cy="0"/>
          </a:xfrm>
          <a:prstGeom prst="line">
            <a:avLst/>
          </a:prstGeom>
          <a:noFill/>
          <a:ln w="25400">
            <a:solidFill>
              <a:srgbClr val="F28C18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85800" y="1353312"/>
            <a:ext cx="5852160" cy="29260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5A677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 finalizar la sesión, el estudiante podrá: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777240" y="1783080"/>
            <a:ext cx="347472" cy="347472"/>
          </a:xfrm>
          <a:prstGeom prst="ellipse">
            <a:avLst/>
          </a:prstGeom>
          <a:solidFill>
            <a:srgbClr val="073B7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77240" y="1879092"/>
            <a:ext cx="347472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1261872" y="1764792"/>
            <a:ext cx="493776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Definir qué es un protocolo de comunicación.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777240" y="2441448"/>
            <a:ext cx="347472" cy="347472"/>
          </a:xfrm>
          <a:prstGeom prst="ellipse">
            <a:avLst/>
          </a:prstGeom>
          <a:solidFill>
            <a:srgbClr val="15989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77240" y="2537460"/>
            <a:ext cx="347472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1261872" y="2423160"/>
            <a:ext cx="493776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Diferenciar cliente-servidor y publicador-suscriptor.</a:t>
            </a:r>
            <a:endParaRPr lang="en-US" sz="1700" dirty="0"/>
          </a:p>
        </p:txBody>
      </p:sp>
      <p:sp>
        <p:nvSpPr>
          <p:cNvPr id="18" name="Shape 16"/>
          <p:cNvSpPr/>
          <p:nvPr/>
        </p:nvSpPr>
        <p:spPr>
          <a:xfrm>
            <a:off x="777240" y="3099816"/>
            <a:ext cx="347472" cy="347472"/>
          </a:xfrm>
          <a:prstGeom prst="ellipse">
            <a:avLst/>
          </a:prstGeom>
          <a:solidFill>
            <a:srgbClr val="F28C1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77240" y="3195828"/>
            <a:ext cx="347472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000" dirty="0"/>
          </a:p>
        </p:txBody>
      </p:sp>
      <p:sp>
        <p:nvSpPr>
          <p:cNvPr id="20" name="Text 18"/>
          <p:cNvSpPr txBox="1"/>
          <p:nvPr/>
        </p:nvSpPr>
        <p:spPr>
          <a:xfrm>
            <a:off x="1261872" y="3081528"/>
            <a:ext cx="493776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Comparar HTTP, MQTT y WebSocket en aplicaciones IoT.</a:t>
            </a:r>
            <a:endParaRPr lang="en-US" sz="1700" dirty="0"/>
          </a:p>
        </p:txBody>
      </p:sp>
      <p:sp>
        <p:nvSpPr>
          <p:cNvPr id="21" name="Shape 19"/>
          <p:cNvSpPr/>
          <p:nvPr/>
        </p:nvSpPr>
        <p:spPr>
          <a:xfrm>
            <a:off x="777240" y="3758184"/>
            <a:ext cx="347472" cy="347472"/>
          </a:xfrm>
          <a:prstGeom prst="ellipse">
            <a:avLst/>
          </a:prstGeom>
          <a:solidFill>
            <a:srgbClr val="073B7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777240" y="3854196"/>
            <a:ext cx="347472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1000" dirty="0"/>
          </a:p>
        </p:txBody>
      </p:sp>
      <p:sp>
        <p:nvSpPr>
          <p:cNvPr id="23" name="Text 21"/>
          <p:cNvSpPr txBox="1"/>
          <p:nvPr/>
        </p:nvSpPr>
        <p:spPr>
          <a:xfrm>
            <a:off x="1261872" y="3739896"/>
            <a:ext cx="493776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Seleccionar un protocolo según latencia, tráfico y escalabilidad.</a:t>
            </a:r>
            <a:endParaRPr lang="en-US" sz="1700" dirty="0"/>
          </a:p>
        </p:txBody>
      </p:sp>
      <p:sp>
        <p:nvSpPr>
          <p:cNvPr id="24" name="Shape 22"/>
          <p:cNvSpPr/>
          <p:nvPr/>
        </p:nvSpPr>
        <p:spPr>
          <a:xfrm>
            <a:off x="6720840" y="1389888"/>
            <a:ext cx="4434840" cy="3246120"/>
          </a:xfrm>
          <a:prstGeom prst="roundRect">
            <a:avLst>
              <a:gd name="adj" fmla="val 2254"/>
            </a:avLst>
          </a:prstGeom>
          <a:solidFill>
            <a:srgbClr val="EAF9F7"/>
          </a:solidFill>
          <a:ln w="12700">
            <a:solidFill>
              <a:srgbClr val="BFE8E2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995160" y="1664208"/>
            <a:ext cx="3886200" cy="2743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0C73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Resultado observable</a:t>
            </a:r>
            <a:endParaRPr lang="en-US" sz="1900" dirty="0"/>
          </a:p>
        </p:txBody>
      </p:sp>
      <p:sp>
        <p:nvSpPr>
          <p:cNvPr id="26" name="Text 24"/>
          <p:cNvSpPr txBox="1"/>
          <p:nvPr/>
        </p:nvSpPr>
        <p:spPr>
          <a:xfrm>
            <a:off x="7059168" y="2221992"/>
            <a:ext cx="3749040" cy="1600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Tabla comparativa de protocolos aplicada a un escenario IoT.</a:t>
            </a:r>
            <a:endParaRPr lang="en-US" sz="1800" dirty="0"/>
          </a:p>
        </p:txBody>
      </p:sp>
      <p:sp>
        <p:nvSpPr>
          <p:cNvPr id="27" name="Shape 25"/>
          <p:cNvSpPr/>
          <p:nvPr/>
        </p:nvSpPr>
        <p:spPr>
          <a:xfrm>
            <a:off x="7178040" y="4069080"/>
            <a:ext cx="3429000" cy="329184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 w="12700">
            <a:solidFill>
              <a:srgbClr val="BFE8E2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7269480" y="4178808"/>
            <a:ext cx="32461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C73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Evidencia breve para clase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073B78"/>
          </a:solidFill>
          <a:ln w="12700">
            <a:solidFill>
              <a:srgbClr val="073B78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93992"/>
            <a:ext cx="12191695" cy="64008"/>
          </a:xfrm>
          <a:prstGeom prst="rect">
            <a:avLst/>
          </a:prstGeom>
          <a:solidFill>
            <a:srgbClr val="F28C18"/>
          </a:solidFill>
          <a:ln w="12700">
            <a:solidFill>
              <a:srgbClr val="F28C18">
                <a:alpha val="0"/>
              </a:srgbClr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347472" y="6492240"/>
            <a:ext cx="4754880" cy="16459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8290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Curso Vacacional: Redes de Datos y Aplicaciones IoT</a:t>
            </a:r>
            <a:endParaRPr lang="en-US" sz="750" dirty="0"/>
          </a:p>
        </p:txBody>
      </p:sp>
      <p:sp>
        <p:nvSpPr>
          <p:cNvPr id="5" name="Text 3"/>
          <p:cNvSpPr txBox="1"/>
          <p:nvPr/>
        </p:nvSpPr>
        <p:spPr>
          <a:xfrm>
            <a:off x="11201400" y="6492240"/>
            <a:ext cx="502920" cy="16459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r" indent="0" marL="0">
              <a:buNone/>
            </a:pPr>
            <a:r>
              <a:rPr lang="en-US" sz="750" dirty="0">
                <a:solidFill>
                  <a:srgbClr val="8290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3.4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411480" y="237744"/>
            <a:ext cx="1234440" cy="256032"/>
          </a:xfrm>
          <a:prstGeom prst="roundRect">
            <a:avLst>
              <a:gd name="adj" fmla="val 21429"/>
            </a:avLst>
          </a:prstGeom>
          <a:solidFill>
            <a:srgbClr val="073B78"/>
          </a:solidFill>
          <a:ln w="12700">
            <a:solidFill>
              <a:srgbClr val="073B78">
                <a:alpha val="0"/>
              </a:srgbClr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11480" y="278892"/>
            <a:ext cx="1234440" cy="10972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Actividad 3</a:t>
            </a:r>
            <a:endParaRPr lang="en-US" sz="850" dirty="0"/>
          </a:p>
        </p:txBody>
      </p:sp>
      <p:sp>
        <p:nvSpPr>
          <p:cNvPr id="8" name="Text 6"/>
          <p:cNvSpPr txBox="1"/>
          <p:nvPr/>
        </p:nvSpPr>
        <p:spPr>
          <a:xfrm>
            <a:off x="1828800" y="219456"/>
            <a:ext cx="6217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5989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Fundamento conceptual</a:t>
            </a:r>
            <a:endParaRPr lang="en-US" sz="950" dirty="0"/>
          </a:p>
        </p:txBody>
      </p:sp>
      <p:sp>
        <p:nvSpPr>
          <p:cNvPr id="9" name="Text 7"/>
          <p:cNvSpPr txBox="1"/>
          <p:nvPr/>
        </p:nvSpPr>
        <p:spPr>
          <a:xfrm>
            <a:off x="475488" y="566928"/>
            <a:ext cx="10972800" cy="42062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62A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Protocolos como reglas de intercambio</a:t>
            </a:r>
            <a:endParaRPr lang="en-US" sz="2700" dirty="0"/>
          </a:p>
        </p:txBody>
      </p:sp>
      <p:sp>
        <p:nvSpPr>
          <p:cNvPr id="10" name="Shape 8"/>
          <p:cNvSpPr/>
          <p:nvPr/>
        </p:nvSpPr>
        <p:spPr>
          <a:xfrm>
            <a:off x="475488" y="1024128"/>
            <a:ext cx="1325880" cy="0"/>
          </a:xfrm>
          <a:prstGeom prst="line">
            <a:avLst/>
          </a:prstGeom>
          <a:noFill/>
          <a:ln w="25400">
            <a:solidFill>
              <a:srgbClr val="F28C18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40080" y="1298448"/>
            <a:ext cx="10789920" cy="47548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5A677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 protocolo define cómo se estructura, envía, confirma y protege un mensaje entre dispositivos.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658368" y="1975104"/>
            <a:ext cx="3474720" cy="3108960"/>
          </a:xfrm>
          <a:prstGeom prst="roundRect">
            <a:avLst>
              <a:gd name="adj" fmla="val 1765"/>
            </a:avLst>
          </a:prstGeom>
          <a:solidFill>
            <a:srgbClr val="EAF4FF"/>
          </a:solidFill>
          <a:ln w="13970">
            <a:solidFill>
              <a:srgbClr val="D6E2E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86968" y="2203704"/>
            <a:ext cx="475488" cy="475488"/>
          </a:xfrm>
          <a:prstGeom prst="ellipse">
            <a:avLst/>
          </a:prstGeom>
          <a:solidFill>
            <a:srgbClr val="073B78"/>
          </a:solidFill>
          <a:ln w="12700">
            <a:solidFill>
              <a:srgbClr val="073B78">
                <a:alpha val="0"/>
              </a:srgbClr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86968" y="2331720"/>
            <a:ext cx="47548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1499616" y="2231136"/>
            <a:ext cx="2514600" cy="3474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062A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HTTP</a:t>
            </a:r>
            <a:endParaRPr lang="en-US" sz="1700" dirty="0"/>
          </a:p>
        </p:txBody>
      </p:sp>
      <p:sp>
        <p:nvSpPr>
          <p:cNvPr id="16" name="Text 14"/>
          <p:cNvSpPr txBox="1"/>
          <p:nvPr/>
        </p:nvSpPr>
        <p:spPr>
          <a:xfrm>
            <a:off x="932688" y="2935224"/>
            <a:ext cx="2926080" cy="175564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550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Modelo petición/respuesta. Útil para APIs, configuración y consultas eventuales.</a:t>
            </a:r>
            <a:endParaRPr lang="en-US" sz="1550" dirty="0"/>
          </a:p>
        </p:txBody>
      </p:sp>
      <p:sp>
        <p:nvSpPr>
          <p:cNvPr id="17" name="Shape 15"/>
          <p:cNvSpPr/>
          <p:nvPr/>
        </p:nvSpPr>
        <p:spPr>
          <a:xfrm>
            <a:off x="4361688" y="1975104"/>
            <a:ext cx="3474720" cy="3108960"/>
          </a:xfrm>
          <a:prstGeom prst="roundRect">
            <a:avLst>
              <a:gd name="adj" fmla="val 1765"/>
            </a:avLst>
          </a:prstGeom>
          <a:solidFill>
            <a:srgbClr val="EAF9F7"/>
          </a:solidFill>
          <a:ln w="13970">
            <a:solidFill>
              <a:srgbClr val="D6E2E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90288" y="2203704"/>
            <a:ext cx="475488" cy="475488"/>
          </a:xfrm>
          <a:prstGeom prst="ellipse">
            <a:avLst/>
          </a:prstGeom>
          <a:solidFill>
            <a:srgbClr val="159895"/>
          </a:solidFill>
          <a:ln w="12700">
            <a:solidFill>
              <a:srgbClr val="159895">
                <a:alpha val="0"/>
              </a:srgbClr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4590288" y="2331720"/>
            <a:ext cx="47548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5202936" y="2231136"/>
            <a:ext cx="2514600" cy="3474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062A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MQTT</a:t>
            </a:r>
            <a:endParaRPr lang="en-US" sz="1700" dirty="0"/>
          </a:p>
        </p:txBody>
      </p:sp>
      <p:sp>
        <p:nvSpPr>
          <p:cNvPr id="21" name="Text 19"/>
          <p:cNvSpPr txBox="1"/>
          <p:nvPr/>
        </p:nvSpPr>
        <p:spPr>
          <a:xfrm>
            <a:off x="4636008" y="2935224"/>
            <a:ext cx="2926080" cy="175564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550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Modelo publicador-suscriptor. Ligero, eficiente y muy usado para telemetría IoT.</a:t>
            </a:r>
            <a:endParaRPr lang="en-US" sz="1550" dirty="0"/>
          </a:p>
        </p:txBody>
      </p:sp>
      <p:sp>
        <p:nvSpPr>
          <p:cNvPr id="22" name="Shape 20"/>
          <p:cNvSpPr/>
          <p:nvPr/>
        </p:nvSpPr>
        <p:spPr>
          <a:xfrm>
            <a:off x="8065008" y="1975104"/>
            <a:ext cx="3474720" cy="3108960"/>
          </a:xfrm>
          <a:prstGeom prst="roundRect">
            <a:avLst>
              <a:gd name="adj" fmla="val 1765"/>
            </a:avLst>
          </a:prstGeom>
          <a:solidFill>
            <a:srgbClr val="FFF4E8"/>
          </a:solidFill>
          <a:ln w="13970">
            <a:solidFill>
              <a:srgbClr val="D6E2E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293608" y="2203704"/>
            <a:ext cx="475488" cy="475488"/>
          </a:xfrm>
          <a:prstGeom prst="ellipse">
            <a:avLst/>
          </a:prstGeom>
          <a:solidFill>
            <a:srgbClr val="F28C18"/>
          </a:solidFill>
          <a:ln w="12700">
            <a:solidFill>
              <a:srgbClr val="F28C18">
                <a:alpha val="0"/>
              </a:srgbClr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8293608" y="2331720"/>
            <a:ext cx="47548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</a:t>
            </a:r>
            <a:endParaRPr lang="en-US" sz="1100" dirty="0"/>
          </a:p>
        </p:txBody>
      </p:sp>
      <p:sp>
        <p:nvSpPr>
          <p:cNvPr id="25" name="Text 23"/>
          <p:cNvSpPr txBox="1"/>
          <p:nvPr/>
        </p:nvSpPr>
        <p:spPr>
          <a:xfrm>
            <a:off x="8906256" y="2231136"/>
            <a:ext cx="2514600" cy="3474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062A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WebSocket</a:t>
            </a:r>
            <a:endParaRPr lang="en-US" sz="1700" dirty="0"/>
          </a:p>
        </p:txBody>
      </p:sp>
      <p:sp>
        <p:nvSpPr>
          <p:cNvPr id="26" name="Text 24"/>
          <p:cNvSpPr txBox="1"/>
          <p:nvPr/>
        </p:nvSpPr>
        <p:spPr>
          <a:xfrm>
            <a:off x="8339328" y="2935224"/>
            <a:ext cx="2926080" cy="175564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550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Conexión persistente bidireccional. Útil para visualización en tiempo real.</a:t>
            </a:r>
            <a:endParaRPr lang="en-US" sz="1550" dirty="0"/>
          </a:p>
        </p:txBody>
      </p:sp>
      <p:sp>
        <p:nvSpPr>
          <p:cNvPr id="27" name="Shape 25"/>
          <p:cNvSpPr/>
          <p:nvPr/>
        </p:nvSpPr>
        <p:spPr>
          <a:xfrm>
            <a:off x="1005840" y="5504688"/>
            <a:ext cx="10195560" cy="438912"/>
          </a:xfrm>
          <a:prstGeom prst="roundRect">
            <a:avLst>
              <a:gd name="adj" fmla="val 10417"/>
            </a:avLst>
          </a:prstGeom>
          <a:solidFill>
            <a:srgbClr val="F7FAFD"/>
          </a:solidFill>
          <a:ln w="12700">
            <a:solidFill>
              <a:srgbClr val="D6E2EF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1188720" y="5650992"/>
            <a:ext cx="98298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62A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elección correcta mejora eficiencia, confiabilidad y escalabilidad.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073B78"/>
          </a:solidFill>
          <a:ln w="12700">
            <a:solidFill>
              <a:srgbClr val="073B78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93992"/>
            <a:ext cx="12191695" cy="64008"/>
          </a:xfrm>
          <a:prstGeom prst="rect">
            <a:avLst/>
          </a:prstGeom>
          <a:solidFill>
            <a:srgbClr val="F28C18"/>
          </a:solidFill>
          <a:ln w="12700">
            <a:solidFill>
              <a:srgbClr val="F28C18">
                <a:alpha val="0"/>
              </a:srgbClr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347472" y="6492240"/>
            <a:ext cx="4754880" cy="16459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8290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Curso Vacacional: Redes de Datos y Aplicaciones IoT</a:t>
            </a:r>
            <a:endParaRPr lang="en-US" sz="750" dirty="0"/>
          </a:p>
        </p:txBody>
      </p:sp>
      <p:sp>
        <p:nvSpPr>
          <p:cNvPr id="5" name="Text 3"/>
          <p:cNvSpPr txBox="1"/>
          <p:nvPr/>
        </p:nvSpPr>
        <p:spPr>
          <a:xfrm>
            <a:off x="11201400" y="6492240"/>
            <a:ext cx="502920" cy="16459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r" indent="0" marL="0">
              <a:buNone/>
            </a:pPr>
            <a:r>
              <a:rPr lang="en-US" sz="750" dirty="0">
                <a:solidFill>
                  <a:srgbClr val="8290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3.5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411480" y="237744"/>
            <a:ext cx="1234440" cy="256032"/>
          </a:xfrm>
          <a:prstGeom prst="roundRect">
            <a:avLst>
              <a:gd name="adj" fmla="val 21429"/>
            </a:avLst>
          </a:prstGeom>
          <a:solidFill>
            <a:srgbClr val="073B78"/>
          </a:solidFill>
          <a:ln w="12700">
            <a:solidFill>
              <a:srgbClr val="073B78">
                <a:alpha val="0"/>
              </a:srgbClr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11480" y="278892"/>
            <a:ext cx="1234440" cy="10972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Actividad 3</a:t>
            </a:r>
            <a:endParaRPr lang="en-US" sz="850" dirty="0"/>
          </a:p>
        </p:txBody>
      </p:sp>
      <p:sp>
        <p:nvSpPr>
          <p:cNvPr id="8" name="Text 6"/>
          <p:cNvSpPr txBox="1"/>
          <p:nvPr/>
        </p:nvSpPr>
        <p:spPr>
          <a:xfrm>
            <a:off x="1828800" y="219456"/>
            <a:ext cx="6217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5989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Secuencia técnica</a:t>
            </a:r>
            <a:endParaRPr lang="en-US" sz="950" dirty="0"/>
          </a:p>
        </p:txBody>
      </p:sp>
      <p:sp>
        <p:nvSpPr>
          <p:cNvPr id="9" name="Text 7"/>
          <p:cNvSpPr txBox="1"/>
          <p:nvPr/>
        </p:nvSpPr>
        <p:spPr>
          <a:xfrm>
            <a:off x="475488" y="566928"/>
            <a:ext cx="10972800" cy="42062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62A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Modelos de comunicación</a:t>
            </a:r>
            <a:endParaRPr lang="en-US" sz="2700" dirty="0"/>
          </a:p>
        </p:txBody>
      </p:sp>
      <p:sp>
        <p:nvSpPr>
          <p:cNvPr id="10" name="Shape 8"/>
          <p:cNvSpPr/>
          <p:nvPr/>
        </p:nvSpPr>
        <p:spPr>
          <a:xfrm>
            <a:off x="475488" y="1024128"/>
            <a:ext cx="1325880" cy="0"/>
          </a:xfrm>
          <a:prstGeom prst="line">
            <a:avLst/>
          </a:prstGeom>
          <a:noFill/>
          <a:ln w="25400">
            <a:solidFill>
              <a:srgbClr val="F28C18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31520" y="1234440"/>
            <a:ext cx="10698480" cy="3200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5A677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Cada protocolo responde a una forma diferente de interacción entre dispositivo y plataforma.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594360" y="2029968"/>
            <a:ext cx="2062886" cy="1874520"/>
          </a:xfrm>
          <a:prstGeom prst="roundRect">
            <a:avLst>
              <a:gd name="adj" fmla="val 3415"/>
            </a:avLst>
          </a:prstGeom>
          <a:solidFill>
            <a:srgbClr val="EAF4FF"/>
          </a:solidFill>
          <a:ln w="12700">
            <a:solidFill>
              <a:srgbClr val="B9D6F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369771" y="2286000"/>
            <a:ext cx="512064" cy="512064"/>
          </a:xfrm>
          <a:prstGeom prst="ellipse">
            <a:avLst/>
          </a:prstGeom>
          <a:solidFill>
            <a:srgbClr val="073B7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1369771" y="2432304"/>
            <a:ext cx="51206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740664" y="2944368"/>
            <a:ext cx="177027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62A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Cliente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722376" y="3291840"/>
            <a:ext cx="1806854" cy="4114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ctr" indent="0" marL="0">
              <a:buNone/>
            </a:pPr>
            <a:r>
              <a:rPr lang="en-US" sz="1040" dirty="0">
                <a:solidFill>
                  <a:srgbClr val="5A677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Solicita o publica.</a:t>
            </a:r>
            <a:endParaRPr lang="en-US" sz="1040" dirty="0"/>
          </a:p>
        </p:txBody>
      </p:sp>
      <p:sp>
        <p:nvSpPr>
          <p:cNvPr id="17" name="Shape 15"/>
          <p:cNvSpPr/>
          <p:nvPr/>
        </p:nvSpPr>
        <p:spPr>
          <a:xfrm>
            <a:off x="2684678" y="2944368"/>
            <a:ext cx="128016" cy="0"/>
          </a:xfrm>
          <a:prstGeom prst="line">
            <a:avLst/>
          </a:prstGeom>
          <a:noFill/>
          <a:ln w="25400">
            <a:solidFill>
              <a:srgbClr val="073B78"/>
            </a:solidFill>
            <a:prstDash val="solid"/>
            <a:headEnd type="none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2821838" y="2029968"/>
            <a:ext cx="2062886" cy="1874520"/>
          </a:xfrm>
          <a:prstGeom prst="roundRect">
            <a:avLst>
              <a:gd name="adj" fmla="val 3415"/>
            </a:avLst>
          </a:prstGeom>
          <a:solidFill>
            <a:srgbClr val="EAF9F7"/>
          </a:solidFill>
          <a:ln w="12700">
            <a:solidFill>
              <a:srgbClr val="BFE8E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597250" y="2286000"/>
            <a:ext cx="512064" cy="512064"/>
          </a:xfrm>
          <a:prstGeom prst="ellipse">
            <a:avLst/>
          </a:prstGeom>
          <a:solidFill>
            <a:srgbClr val="15989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3597250" y="2432304"/>
            <a:ext cx="51206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2968142" y="2944368"/>
            <a:ext cx="177027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62A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Servicio</a:t>
            </a:r>
            <a:endParaRPr lang="en-US" sz="1250" dirty="0"/>
          </a:p>
        </p:txBody>
      </p:sp>
      <p:sp>
        <p:nvSpPr>
          <p:cNvPr id="22" name="Text 20"/>
          <p:cNvSpPr txBox="1"/>
          <p:nvPr/>
        </p:nvSpPr>
        <p:spPr>
          <a:xfrm>
            <a:off x="2949854" y="3291840"/>
            <a:ext cx="1806854" cy="4114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ctr" indent="0" marL="0">
              <a:buNone/>
            </a:pPr>
            <a:r>
              <a:rPr lang="en-US" sz="1040" dirty="0">
                <a:solidFill>
                  <a:srgbClr val="5A677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Recibe o enruta.</a:t>
            </a:r>
            <a:endParaRPr lang="en-US" sz="1040" dirty="0"/>
          </a:p>
        </p:txBody>
      </p:sp>
      <p:sp>
        <p:nvSpPr>
          <p:cNvPr id="23" name="Shape 21"/>
          <p:cNvSpPr/>
          <p:nvPr/>
        </p:nvSpPr>
        <p:spPr>
          <a:xfrm>
            <a:off x="4912157" y="2944368"/>
            <a:ext cx="128016" cy="0"/>
          </a:xfrm>
          <a:prstGeom prst="line">
            <a:avLst/>
          </a:prstGeom>
          <a:noFill/>
          <a:ln w="25400">
            <a:solidFill>
              <a:srgbClr val="073B78"/>
            </a:solidFill>
            <a:prstDash val="solid"/>
            <a:headEnd type="none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5049317" y="2029968"/>
            <a:ext cx="2062886" cy="1874520"/>
          </a:xfrm>
          <a:prstGeom prst="roundRect">
            <a:avLst>
              <a:gd name="adj" fmla="val 3415"/>
            </a:avLst>
          </a:prstGeom>
          <a:solidFill>
            <a:srgbClr val="EAF4FF"/>
          </a:solidFill>
          <a:ln w="12700">
            <a:solidFill>
              <a:srgbClr val="B9D6F2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824728" y="2286000"/>
            <a:ext cx="512064" cy="512064"/>
          </a:xfrm>
          <a:prstGeom prst="ellipse">
            <a:avLst/>
          </a:prstGeom>
          <a:solidFill>
            <a:srgbClr val="F28C1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5824728" y="2432304"/>
            <a:ext cx="51206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000" dirty="0"/>
          </a:p>
        </p:txBody>
      </p:sp>
      <p:sp>
        <p:nvSpPr>
          <p:cNvPr id="27" name="Text 25"/>
          <p:cNvSpPr txBox="1"/>
          <p:nvPr/>
        </p:nvSpPr>
        <p:spPr>
          <a:xfrm>
            <a:off x="5195621" y="2944368"/>
            <a:ext cx="177027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62A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Mensaje</a:t>
            </a:r>
            <a:endParaRPr lang="en-US" sz="1250" dirty="0"/>
          </a:p>
        </p:txBody>
      </p:sp>
      <p:sp>
        <p:nvSpPr>
          <p:cNvPr id="28" name="Text 26"/>
          <p:cNvSpPr txBox="1"/>
          <p:nvPr/>
        </p:nvSpPr>
        <p:spPr>
          <a:xfrm>
            <a:off x="5177333" y="3291840"/>
            <a:ext cx="1806854" cy="4114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ctr" indent="0" marL="0">
              <a:buNone/>
            </a:pPr>
            <a:r>
              <a:rPr lang="en-US" sz="1040" dirty="0">
                <a:solidFill>
                  <a:srgbClr val="5A677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Payload estructurado.</a:t>
            </a:r>
            <a:endParaRPr lang="en-US" sz="1040" dirty="0"/>
          </a:p>
        </p:txBody>
      </p:sp>
      <p:sp>
        <p:nvSpPr>
          <p:cNvPr id="29" name="Shape 27"/>
          <p:cNvSpPr/>
          <p:nvPr/>
        </p:nvSpPr>
        <p:spPr>
          <a:xfrm>
            <a:off x="7139635" y="2944368"/>
            <a:ext cx="128016" cy="0"/>
          </a:xfrm>
          <a:prstGeom prst="line">
            <a:avLst/>
          </a:prstGeom>
          <a:noFill/>
          <a:ln w="25400">
            <a:solidFill>
              <a:srgbClr val="073B78"/>
            </a:solidFill>
            <a:prstDash val="solid"/>
            <a:headEnd type="none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7276795" y="2029968"/>
            <a:ext cx="2062886" cy="1874520"/>
          </a:xfrm>
          <a:prstGeom prst="roundRect">
            <a:avLst>
              <a:gd name="adj" fmla="val 3415"/>
            </a:avLst>
          </a:prstGeom>
          <a:solidFill>
            <a:srgbClr val="EAF9F7"/>
          </a:solidFill>
          <a:ln w="12700">
            <a:solidFill>
              <a:srgbClr val="BFE8E2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8052206" y="2286000"/>
            <a:ext cx="512064" cy="512064"/>
          </a:xfrm>
          <a:prstGeom prst="ellipse">
            <a:avLst/>
          </a:prstGeom>
          <a:solidFill>
            <a:srgbClr val="073B7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8052206" y="2432304"/>
            <a:ext cx="51206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1000" dirty="0"/>
          </a:p>
        </p:txBody>
      </p:sp>
      <p:sp>
        <p:nvSpPr>
          <p:cNvPr id="33" name="Text 31"/>
          <p:cNvSpPr txBox="1"/>
          <p:nvPr/>
        </p:nvSpPr>
        <p:spPr>
          <a:xfrm>
            <a:off x="7423099" y="2944368"/>
            <a:ext cx="177027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62A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Respuesta</a:t>
            </a:r>
            <a:endParaRPr lang="en-US" sz="1250" dirty="0"/>
          </a:p>
        </p:txBody>
      </p:sp>
      <p:sp>
        <p:nvSpPr>
          <p:cNvPr id="34" name="Text 32"/>
          <p:cNvSpPr txBox="1"/>
          <p:nvPr/>
        </p:nvSpPr>
        <p:spPr>
          <a:xfrm>
            <a:off x="7404811" y="3291840"/>
            <a:ext cx="1806854" cy="4114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ctr" indent="0" marL="0">
              <a:buNone/>
            </a:pPr>
            <a:r>
              <a:rPr lang="en-US" sz="1040" dirty="0">
                <a:solidFill>
                  <a:srgbClr val="5A677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Confirmación o dato.</a:t>
            </a:r>
            <a:endParaRPr lang="en-US" sz="1040" dirty="0"/>
          </a:p>
        </p:txBody>
      </p:sp>
      <p:sp>
        <p:nvSpPr>
          <p:cNvPr id="35" name="Shape 33"/>
          <p:cNvSpPr/>
          <p:nvPr/>
        </p:nvSpPr>
        <p:spPr>
          <a:xfrm>
            <a:off x="9367114" y="2944368"/>
            <a:ext cx="128016" cy="0"/>
          </a:xfrm>
          <a:prstGeom prst="line">
            <a:avLst/>
          </a:prstGeom>
          <a:noFill/>
          <a:ln w="25400">
            <a:solidFill>
              <a:srgbClr val="073B78"/>
            </a:solidFill>
            <a:prstDash val="solid"/>
            <a:headEnd type="none"/>
            <a:tailEnd type="triangle"/>
          </a:ln>
        </p:spPr>
      </p:sp>
      <p:sp>
        <p:nvSpPr>
          <p:cNvPr id="36" name="Shape 34"/>
          <p:cNvSpPr/>
          <p:nvPr/>
        </p:nvSpPr>
        <p:spPr>
          <a:xfrm>
            <a:off x="9504274" y="2029968"/>
            <a:ext cx="2062886" cy="1874520"/>
          </a:xfrm>
          <a:prstGeom prst="roundRect">
            <a:avLst>
              <a:gd name="adj" fmla="val 3415"/>
            </a:avLst>
          </a:prstGeom>
          <a:solidFill>
            <a:srgbClr val="EAF4FF"/>
          </a:solidFill>
          <a:ln w="12700">
            <a:solidFill>
              <a:srgbClr val="B9D6F2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10279685" y="2286000"/>
            <a:ext cx="512064" cy="512064"/>
          </a:xfrm>
          <a:prstGeom prst="ellipse">
            <a:avLst/>
          </a:prstGeom>
          <a:solidFill>
            <a:srgbClr val="15989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10279685" y="2432304"/>
            <a:ext cx="51206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1000" dirty="0"/>
          </a:p>
        </p:txBody>
      </p:sp>
      <p:sp>
        <p:nvSpPr>
          <p:cNvPr id="39" name="Text 37"/>
          <p:cNvSpPr txBox="1"/>
          <p:nvPr/>
        </p:nvSpPr>
        <p:spPr>
          <a:xfrm>
            <a:off x="9650578" y="2944368"/>
            <a:ext cx="177027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62A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Aplicación</a:t>
            </a:r>
            <a:endParaRPr lang="en-US" sz="1250" dirty="0"/>
          </a:p>
        </p:txBody>
      </p:sp>
      <p:sp>
        <p:nvSpPr>
          <p:cNvPr id="40" name="Text 38"/>
          <p:cNvSpPr txBox="1"/>
          <p:nvPr/>
        </p:nvSpPr>
        <p:spPr>
          <a:xfrm>
            <a:off x="9632290" y="3291840"/>
            <a:ext cx="1806854" cy="4114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ctr" indent="0" marL="0">
              <a:buNone/>
            </a:pPr>
            <a:r>
              <a:rPr lang="en-US" sz="1040" dirty="0">
                <a:solidFill>
                  <a:srgbClr val="5A677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Visualiza o decide.</a:t>
            </a:r>
            <a:endParaRPr lang="en-US" sz="1040" dirty="0"/>
          </a:p>
        </p:txBody>
      </p:sp>
      <p:sp>
        <p:nvSpPr>
          <p:cNvPr id="41" name="Shape 39"/>
          <p:cNvSpPr/>
          <p:nvPr/>
        </p:nvSpPr>
        <p:spPr>
          <a:xfrm>
            <a:off x="960120" y="4828032"/>
            <a:ext cx="10287000" cy="749808"/>
          </a:xfrm>
          <a:prstGeom prst="roundRect">
            <a:avLst>
              <a:gd name="adj" fmla="val 7317"/>
            </a:avLst>
          </a:prstGeom>
          <a:solidFill>
            <a:srgbClr val="FFF4E8"/>
          </a:solidFill>
          <a:ln w="12700">
            <a:solidFill>
              <a:srgbClr val="F6C89A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1143000" y="5047488"/>
            <a:ext cx="9921240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62A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arquitectura del sistema determina qué protocolo conviene usar.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073B78"/>
          </a:solidFill>
          <a:ln w="12700">
            <a:solidFill>
              <a:srgbClr val="073B78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93992"/>
            <a:ext cx="12191695" cy="64008"/>
          </a:xfrm>
          <a:prstGeom prst="rect">
            <a:avLst/>
          </a:prstGeom>
          <a:solidFill>
            <a:srgbClr val="F28C18"/>
          </a:solidFill>
          <a:ln w="12700">
            <a:solidFill>
              <a:srgbClr val="F28C18">
                <a:alpha val="0"/>
              </a:srgbClr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347472" y="6492240"/>
            <a:ext cx="4754880" cy="16459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8290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Curso Vacacional: Redes de Datos y Aplicaciones IoT</a:t>
            </a:r>
            <a:endParaRPr lang="en-US" sz="750" dirty="0"/>
          </a:p>
        </p:txBody>
      </p:sp>
      <p:sp>
        <p:nvSpPr>
          <p:cNvPr id="5" name="Text 3"/>
          <p:cNvSpPr txBox="1"/>
          <p:nvPr/>
        </p:nvSpPr>
        <p:spPr>
          <a:xfrm>
            <a:off x="11201400" y="6492240"/>
            <a:ext cx="502920" cy="16459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r" indent="0" marL="0">
              <a:buNone/>
            </a:pPr>
            <a:r>
              <a:rPr lang="en-US" sz="750" dirty="0">
                <a:solidFill>
                  <a:srgbClr val="8290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3.6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411480" y="237744"/>
            <a:ext cx="1234440" cy="256032"/>
          </a:xfrm>
          <a:prstGeom prst="roundRect">
            <a:avLst>
              <a:gd name="adj" fmla="val 21429"/>
            </a:avLst>
          </a:prstGeom>
          <a:solidFill>
            <a:srgbClr val="073B78"/>
          </a:solidFill>
          <a:ln w="12700">
            <a:solidFill>
              <a:srgbClr val="073B78">
                <a:alpha val="0"/>
              </a:srgbClr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11480" y="278892"/>
            <a:ext cx="1234440" cy="10972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Actividad 3</a:t>
            </a:r>
            <a:endParaRPr lang="en-US" sz="850" dirty="0"/>
          </a:p>
        </p:txBody>
      </p:sp>
      <p:sp>
        <p:nvSpPr>
          <p:cNvPr id="8" name="Text 6"/>
          <p:cNvSpPr txBox="1"/>
          <p:nvPr/>
        </p:nvSpPr>
        <p:spPr>
          <a:xfrm>
            <a:off x="1828800" y="219456"/>
            <a:ext cx="6217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5989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Análisis comparativo</a:t>
            </a:r>
            <a:endParaRPr lang="en-US" sz="950" dirty="0"/>
          </a:p>
        </p:txBody>
      </p:sp>
      <p:sp>
        <p:nvSpPr>
          <p:cNvPr id="9" name="Text 7"/>
          <p:cNvSpPr txBox="1"/>
          <p:nvPr/>
        </p:nvSpPr>
        <p:spPr>
          <a:xfrm>
            <a:off x="475488" y="566928"/>
            <a:ext cx="10972800" cy="42062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62A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Comparación rápida</a:t>
            </a:r>
            <a:endParaRPr lang="en-US" sz="2700" dirty="0"/>
          </a:p>
        </p:txBody>
      </p:sp>
      <p:sp>
        <p:nvSpPr>
          <p:cNvPr id="10" name="Shape 8"/>
          <p:cNvSpPr/>
          <p:nvPr/>
        </p:nvSpPr>
        <p:spPr>
          <a:xfrm>
            <a:off x="475488" y="1024128"/>
            <a:ext cx="1325880" cy="0"/>
          </a:xfrm>
          <a:prstGeom prst="line">
            <a:avLst/>
          </a:prstGeom>
          <a:noFill/>
          <a:ln w="25400">
            <a:solidFill>
              <a:srgbClr val="F28C18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31520" y="1234440"/>
            <a:ext cx="10607040" cy="34747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ctr" indent="0" marL="0">
              <a:buNone/>
            </a:pPr>
            <a:r>
              <a:rPr lang="en-US" sz="1750" dirty="0">
                <a:solidFill>
                  <a:srgbClr val="5A677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decisión debe considerar tráfico, tiempo real, complejidad y seguridad.</a:t>
            </a:r>
            <a:endParaRPr lang="en-US" sz="1750" dirty="0"/>
          </a:p>
        </p:txBody>
      </p:sp>
      <p:sp>
        <p:nvSpPr>
          <p:cNvPr id="12" name="Shape 10"/>
          <p:cNvSpPr/>
          <p:nvPr/>
        </p:nvSpPr>
        <p:spPr>
          <a:xfrm>
            <a:off x="658368" y="1847088"/>
            <a:ext cx="3413760" cy="3401568"/>
          </a:xfrm>
          <a:prstGeom prst="roundRect">
            <a:avLst>
              <a:gd name="adj" fmla="val 1882"/>
            </a:avLst>
          </a:prstGeom>
          <a:solidFill>
            <a:srgbClr val="EAF4FF"/>
          </a:solidFill>
          <a:ln w="15240">
            <a:solidFill>
              <a:srgbClr val="073B7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76656" y="1865376"/>
            <a:ext cx="3377184" cy="502920"/>
          </a:xfrm>
          <a:prstGeom prst="rect">
            <a:avLst/>
          </a:prstGeom>
          <a:solidFill>
            <a:srgbClr val="073B78"/>
          </a:solidFill>
          <a:ln w="12700">
            <a:solidFill>
              <a:srgbClr val="073B78">
                <a:alpha val="0"/>
              </a:srgbClr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95528" y="2029968"/>
            <a:ext cx="31394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HTTP</a:t>
            </a:r>
            <a:endParaRPr lang="en-US" sz="1450" dirty="0"/>
          </a:p>
        </p:txBody>
      </p:sp>
      <p:sp>
        <p:nvSpPr>
          <p:cNvPr id="15" name="Text 13"/>
          <p:cNvSpPr txBox="1"/>
          <p:nvPr/>
        </p:nvSpPr>
        <p:spPr>
          <a:xfrm>
            <a:off x="914400" y="2715768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73B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1133856" y="2670048"/>
            <a:ext cx="2682240" cy="3474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Simple y ampliamente soportado.</a:t>
            </a:r>
            <a:endParaRPr lang="en-US" sz="1350" dirty="0"/>
          </a:p>
        </p:txBody>
      </p:sp>
      <p:sp>
        <p:nvSpPr>
          <p:cNvPr id="17" name="Text 15"/>
          <p:cNvSpPr txBox="1"/>
          <p:nvPr/>
        </p:nvSpPr>
        <p:spPr>
          <a:xfrm>
            <a:off x="914400" y="3246120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73B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1133856" y="3200400"/>
            <a:ext cx="2682240" cy="3474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Adecuado para consultas y APIs.</a:t>
            </a:r>
            <a:endParaRPr lang="en-US" sz="1350" dirty="0"/>
          </a:p>
        </p:txBody>
      </p:sp>
      <p:sp>
        <p:nvSpPr>
          <p:cNvPr id="19" name="Text 17"/>
          <p:cNvSpPr txBox="1"/>
          <p:nvPr/>
        </p:nvSpPr>
        <p:spPr>
          <a:xfrm>
            <a:off x="914400" y="3776472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73B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1133856" y="3730752"/>
            <a:ext cx="2682240" cy="3474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Puede ser menos eficiente en telemetría continua.</a:t>
            </a:r>
            <a:endParaRPr lang="en-US" sz="1350" dirty="0"/>
          </a:p>
        </p:txBody>
      </p:sp>
      <p:sp>
        <p:nvSpPr>
          <p:cNvPr id="21" name="Text 19"/>
          <p:cNvSpPr txBox="1"/>
          <p:nvPr/>
        </p:nvSpPr>
        <p:spPr>
          <a:xfrm>
            <a:off x="914400" y="4306824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73B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1133856" y="4261104"/>
            <a:ext cx="2682240" cy="3474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Usa habitualmente HTTPS.</a:t>
            </a:r>
            <a:endParaRPr lang="en-US" sz="1350" dirty="0"/>
          </a:p>
        </p:txBody>
      </p:sp>
      <p:sp>
        <p:nvSpPr>
          <p:cNvPr id="23" name="Shape 21"/>
          <p:cNvSpPr/>
          <p:nvPr/>
        </p:nvSpPr>
        <p:spPr>
          <a:xfrm>
            <a:off x="4392168" y="1847088"/>
            <a:ext cx="3413760" cy="3401568"/>
          </a:xfrm>
          <a:prstGeom prst="roundRect">
            <a:avLst>
              <a:gd name="adj" fmla="val 1882"/>
            </a:avLst>
          </a:prstGeom>
          <a:solidFill>
            <a:srgbClr val="EAF9F7"/>
          </a:solidFill>
          <a:ln w="15240">
            <a:solidFill>
              <a:srgbClr val="159895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410456" y="1865376"/>
            <a:ext cx="3377184" cy="502920"/>
          </a:xfrm>
          <a:prstGeom prst="rect">
            <a:avLst/>
          </a:prstGeom>
          <a:solidFill>
            <a:srgbClr val="159895"/>
          </a:solidFill>
          <a:ln w="12700">
            <a:solidFill>
              <a:srgbClr val="159895">
                <a:alpha val="0"/>
              </a:srgbClr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4529328" y="2029968"/>
            <a:ext cx="31394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MQTT</a:t>
            </a:r>
            <a:endParaRPr lang="en-US" sz="1450" dirty="0"/>
          </a:p>
        </p:txBody>
      </p:sp>
      <p:sp>
        <p:nvSpPr>
          <p:cNvPr id="26" name="Text 24"/>
          <p:cNvSpPr txBox="1"/>
          <p:nvPr/>
        </p:nvSpPr>
        <p:spPr>
          <a:xfrm>
            <a:off x="4648200" y="2715768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5989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</a:t>
            </a:r>
            <a:endParaRPr lang="en-US" sz="1600" dirty="0"/>
          </a:p>
        </p:txBody>
      </p:sp>
      <p:sp>
        <p:nvSpPr>
          <p:cNvPr id="27" name="Text 25"/>
          <p:cNvSpPr txBox="1"/>
          <p:nvPr/>
        </p:nvSpPr>
        <p:spPr>
          <a:xfrm>
            <a:off x="4867656" y="2670048"/>
            <a:ext cx="2682240" cy="3474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Ligero y escalable.</a:t>
            </a:r>
            <a:endParaRPr lang="en-US" sz="1350" dirty="0"/>
          </a:p>
        </p:txBody>
      </p:sp>
      <p:sp>
        <p:nvSpPr>
          <p:cNvPr id="28" name="Text 26"/>
          <p:cNvSpPr txBox="1"/>
          <p:nvPr/>
        </p:nvSpPr>
        <p:spPr>
          <a:xfrm>
            <a:off x="4648200" y="3246120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5989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</a:t>
            </a:r>
            <a:endParaRPr lang="en-US" sz="1600" dirty="0"/>
          </a:p>
        </p:txBody>
      </p:sp>
      <p:sp>
        <p:nvSpPr>
          <p:cNvPr id="29" name="Text 27"/>
          <p:cNvSpPr txBox="1"/>
          <p:nvPr/>
        </p:nvSpPr>
        <p:spPr>
          <a:xfrm>
            <a:off x="4867656" y="3200400"/>
            <a:ext cx="2682240" cy="3474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Broker centraliza mensajes.</a:t>
            </a:r>
            <a:endParaRPr lang="en-US" sz="1350" dirty="0"/>
          </a:p>
        </p:txBody>
      </p:sp>
      <p:sp>
        <p:nvSpPr>
          <p:cNvPr id="30" name="Text 28"/>
          <p:cNvSpPr txBox="1"/>
          <p:nvPr/>
        </p:nvSpPr>
        <p:spPr>
          <a:xfrm>
            <a:off x="4648200" y="3776472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5989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</a:t>
            </a:r>
            <a:endParaRPr lang="en-US" sz="1600" dirty="0"/>
          </a:p>
        </p:txBody>
      </p:sp>
      <p:sp>
        <p:nvSpPr>
          <p:cNvPr id="31" name="Text 29"/>
          <p:cNvSpPr txBox="1"/>
          <p:nvPr/>
        </p:nvSpPr>
        <p:spPr>
          <a:xfrm>
            <a:off x="4867656" y="3730752"/>
            <a:ext cx="2682240" cy="3474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Ideal para sensores periódicos.</a:t>
            </a:r>
            <a:endParaRPr lang="en-US" sz="1350" dirty="0"/>
          </a:p>
        </p:txBody>
      </p:sp>
      <p:sp>
        <p:nvSpPr>
          <p:cNvPr id="32" name="Text 30"/>
          <p:cNvSpPr txBox="1"/>
          <p:nvPr/>
        </p:nvSpPr>
        <p:spPr>
          <a:xfrm>
            <a:off x="4648200" y="4306824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5989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</a:t>
            </a:r>
            <a:endParaRPr lang="en-US" sz="1600" dirty="0"/>
          </a:p>
        </p:txBody>
      </p:sp>
      <p:sp>
        <p:nvSpPr>
          <p:cNvPr id="33" name="Text 31"/>
          <p:cNvSpPr txBox="1"/>
          <p:nvPr/>
        </p:nvSpPr>
        <p:spPr>
          <a:xfrm>
            <a:off x="4867656" y="4261104"/>
            <a:ext cx="2682240" cy="3474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Soporta QoS y tópicos.</a:t>
            </a:r>
            <a:endParaRPr lang="en-US" sz="1350" dirty="0"/>
          </a:p>
        </p:txBody>
      </p:sp>
      <p:sp>
        <p:nvSpPr>
          <p:cNvPr id="34" name="Shape 32"/>
          <p:cNvSpPr/>
          <p:nvPr/>
        </p:nvSpPr>
        <p:spPr>
          <a:xfrm>
            <a:off x="8125968" y="1847088"/>
            <a:ext cx="3413760" cy="3401568"/>
          </a:xfrm>
          <a:prstGeom prst="roundRect">
            <a:avLst>
              <a:gd name="adj" fmla="val 1882"/>
            </a:avLst>
          </a:prstGeom>
          <a:solidFill>
            <a:srgbClr val="FFF4E8"/>
          </a:solidFill>
          <a:ln w="15240">
            <a:solidFill>
              <a:srgbClr val="F28C18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8144256" y="1865376"/>
            <a:ext cx="3377184" cy="502920"/>
          </a:xfrm>
          <a:prstGeom prst="rect">
            <a:avLst/>
          </a:prstGeom>
          <a:solidFill>
            <a:srgbClr val="F28C18"/>
          </a:solidFill>
          <a:ln w="12700">
            <a:solidFill>
              <a:srgbClr val="F28C18">
                <a:alpha val="0"/>
              </a:srgbClr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8263128" y="2029968"/>
            <a:ext cx="31394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WebSocket</a:t>
            </a:r>
            <a:endParaRPr lang="en-US" sz="1450" dirty="0"/>
          </a:p>
        </p:txBody>
      </p:sp>
      <p:sp>
        <p:nvSpPr>
          <p:cNvPr id="37" name="Text 35"/>
          <p:cNvSpPr txBox="1"/>
          <p:nvPr/>
        </p:nvSpPr>
        <p:spPr>
          <a:xfrm>
            <a:off x="8382000" y="2715768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28C1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</a:t>
            </a:r>
            <a:endParaRPr lang="en-US" sz="1600" dirty="0"/>
          </a:p>
        </p:txBody>
      </p:sp>
      <p:sp>
        <p:nvSpPr>
          <p:cNvPr id="38" name="Text 36"/>
          <p:cNvSpPr txBox="1"/>
          <p:nvPr/>
        </p:nvSpPr>
        <p:spPr>
          <a:xfrm>
            <a:off x="8601456" y="2670048"/>
            <a:ext cx="2682240" cy="3474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Comunicación persistente.</a:t>
            </a:r>
            <a:endParaRPr lang="en-US" sz="1350" dirty="0"/>
          </a:p>
        </p:txBody>
      </p:sp>
      <p:sp>
        <p:nvSpPr>
          <p:cNvPr id="39" name="Text 37"/>
          <p:cNvSpPr txBox="1"/>
          <p:nvPr/>
        </p:nvSpPr>
        <p:spPr>
          <a:xfrm>
            <a:off x="8382000" y="3246120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28C1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</a:t>
            </a:r>
            <a:endParaRPr lang="en-US" sz="1600" dirty="0"/>
          </a:p>
        </p:txBody>
      </p:sp>
      <p:sp>
        <p:nvSpPr>
          <p:cNvPr id="40" name="Text 38"/>
          <p:cNvSpPr txBox="1"/>
          <p:nvPr/>
        </p:nvSpPr>
        <p:spPr>
          <a:xfrm>
            <a:off x="8601456" y="3200400"/>
            <a:ext cx="2682240" cy="3474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Actualización en tiempo real.</a:t>
            </a:r>
            <a:endParaRPr lang="en-US" sz="1350" dirty="0"/>
          </a:p>
        </p:txBody>
      </p:sp>
      <p:sp>
        <p:nvSpPr>
          <p:cNvPr id="41" name="Text 39"/>
          <p:cNvSpPr txBox="1"/>
          <p:nvPr/>
        </p:nvSpPr>
        <p:spPr>
          <a:xfrm>
            <a:off x="8382000" y="3776472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28C1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</a:t>
            </a:r>
            <a:endParaRPr lang="en-US" sz="1600" dirty="0"/>
          </a:p>
        </p:txBody>
      </p:sp>
      <p:sp>
        <p:nvSpPr>
          <p:cNvPr id="42" name="Text 40"/>
          <p:cNvSpPr txBox="1"/>
          <p:nvPr/>
        </p:nvSpPr>
        <p:spPr>
          <a:xfrm>
            <a:off x="8601456" y="3730752"/>
            <a:ext cx="2682240" cy="3474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Muy útil para interfaces web.</a:t>
            </a:r>
            <a:endParaRPr lang="en-US" sz="1350" dirty="0"/>
          </a:p>
        </p:txBody>
      </p:sp>
      <p:sp>
        <p:nvSpPr>
          <p:cNvPr id="43" name="Text 41"/>
          <p:cNvSpPr txBox="1"/>
          <p:nvPr/>
        </p:nvSpPr>
        <p:spPr>
          <a:xfrm>
            <a:off x="8382000" y="4306824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28C1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</a:t>
            </a:r>
            <a:endParaRPr lang="en-US" sz="1600" dirty="0"/>
          </a:p>
        </p:txBody>
      </p:sp>
      <p:sp>
        <p:nvSpPr>
          <p:cNvPr id="44" name="Text 42"/>
          <p:cNvSpPr txBox="1"/>
          <p:nvPr/>
        </p:nvSpPr>
        <p:spPr>
          <a:xfrm>
            <a:off x="8601456" y="4261104"/>
            <a:ext cx="2682240" cy="3474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Requiere mantener conexión activa.</a:t>
            </a:r>
            <a:endParaRPr lang="en-US" sz="13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073B78"/>
          </a:solidFill>
          <a:ln w="12700">
            <a:solidFill>
              <a:srgbClr val="073B78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93992"/>
            <a:ext cx="12191695" cy="64008"/>
          </a:xfrm>
          <a:prstGeom prst="rect">
            <a:avLst/>
          </a:prstGeom>
          <a:solidFill>
            <a:srgbClr val="F28C18"/>
          </a:solidFill>
          <a:ln w="12700">
            <a:solidFill>
              <a:srgbClr val="F28C18">
                <a:alpha val="0"/>
              </a:srgbClr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347472" y="6492240"/>
            <a:ext cx="4754880" cy="16459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8290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Curso Vacacional: Redes de Datos y Aplicaciones IoT</a:t>
            </a:r>
            <a:endParaRPr lang="en-US" sz="750" dirty="0"/>
          </a:p>
        </p:txBody>
      </p:sp>
      <p:sp>
        <p:nvSpPr>
          <p:cNvPr id="5" name="Text 3"/>
          <p:cNvSpPr txBox="1"/>
          <p:nvPr/>
        </p:nvSpPr>
        <p:spPr>
          <a:xfrm>
            <a:off x="11201400" y="6492240"/>
            <a:ext cx="502920" cy="16459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r" indent="0" marL="0">
              <a:buNone/>
            </a:pPr>
            <a:r>
              <a:rPr lang="en-US" sz="750" dirty="0">
                <a:solidFill>
                  <a:srgbClr val="8290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3.7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411480" y="237744"/>
            <a:ext cx="1234440" cy="256032"/>
          </a:xfrm>
          <a:prstGeom prst="roundRect">
            <a:avLst>
              <a:gd name="adj" fmla="val 21429"/>
            </a:avLst>
          </a:prstGeom>
          <a:solidFill>
            <a:srgbClr val="073B78"/>
          </a:solidFill>
          <a:ln w="12700">
            <a:solidFill>
              <a:srgbClr val="073B78">
                <a:alpha val="0"/>
              </a:srgbClr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11480" y="278892"/>
            <a:ext cx="1234440" cy="10972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Actividad 3</a:t>
            </a:r>
            <a:endParaRPr lang="en-US" sz="850" dirty="0"/>
          </a:p>
        </p:txBody>
      </p:sp>
      <p:sp>
        <p:nvSpPr>
          <p:cNvPr id="8" name="Text 6"/>
          <p:cNvSpPr txBox="1"/>
          <p:nvPr/>
        </p:nvSpPr>
        <p:spPr>
          <a:xfrm>
            <a:off x="1828800" y="219456"/>
            <a:ext cx="6217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5989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Caso aplicado a Ingeniería Electrónica</a:t>
            </a:r>
            <a:endParaRPr lang="en-US" sz="950" dirty="0"/>
          </a:p>
        </p:txBody>
      </p:sp>
      <p:sp>
        <p:nvSpPr>
          <p:cNvPr id="9" name="Text 7"/>
          <p:cNvSpPr txBox="1"/>
          <p:nvPr/>
        </p:nvSpPr>
        <p:spPr>
          <a:xfrm>
            <a:off x="475488" y="566928"/>
            <a:ext cx="10972800" cy="42062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62A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Caso guía: tres necesidades de comunicación</a:t>
            </a:r>
            <a:endParaRPr lang="en-US" sz="2700" dirty="0"/>
          </a:p>
        </p:txBody>
      </p:sp>
      <p:sp>
        <p:nvSpPr>
          <p:cNvPr id="10" name="Shape 8"/>
          <p:cNvSpPr/>
          <p:nvPr/>
        </p:nvSpPr>
        <p:spPr>
          <a:xfrm>
            <a:off x="475488" y="1024128"/>
            <a:ext cx="1325880" cy="0"/>
          </a:xfrm>
          <a:prstGeom prst="line">
            <a:avLst/>
          </a:prstGeom>
          <a:noFill/>
          <a:ln w="25400">
            <a:solidFill>
              <a:srgbClr val="F28C1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77240" y="1389888"/>
            <a:ext cx="10652760" cy="658368"/>
          </a:xfrm>
          <a:prstGeom prst="roundRect">
            <a:avLst>
              <a:gd name="adj" fmla="val 9722"/>
            </a:avLst>
          </a:prstGeom>
          <a:solidFill>
            <a:srgbClr val="FFF4E8"/>
          </a:solidFill>
          <a:ln w="12700">
            <a:solidFill>
              <a:srgbClr val="F6C89A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005840" y="1627632"/>
            <a:ext cx="10195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62A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 sistema necesita configurar un nodo, recibir mediciones periódicas y actualizar un dashboard en tiempo real.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822960" y="2834640"/>
            <a:ext cx="1828800" cy="1143000"/>
          </a:xfrm>
          <a:prstGeom prst="roundRect">
            <a:avLst>
              <a:gd name="adj" fmla="val 4800"/>
            </a:avLst>
          </a:prstGeom>
          <a:solidFill>
            <a:srgbClr val="EAF4FF"/>
          </a:solidFill>
          <a:ln w="12700">
            <a:solidFill>
              <a:srgbClr val="B9D6F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481328" y="2331720"/>
            <a:ext cx="493776" cy="493776"/>
          </a:xfrm>
          <a:prstGeom prst="ellipse">
            <a:avLst/>
          </a:prstGeom>
          <a:solidFill>
            <a:srgbClr val="073B7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1481328" y="2478024"/>
            <a:ext cx="49377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950976" y="3035808"/>
            <a:ext cx="15727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62A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Configurar</a:t>
            </a:r>
            <a:endParaRPr lang="en-US" sz="1250" dirty="0"/>
          </a:p>
        </p:txBody>
      </p:sp>
      <p:sp>
        <p:nvSpPr>
          <p:cNvPr id="17" name="Text 15"/>
          <p:cNvSpPr txBox="1"/>
          <p:nvPr/>
        </p:nvSpPr>
        <p:spPr>
          <a:xfrm>
            <a:off x="969264" y="3364992"/>
            <a:ext cx="1536192" cy="3474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ctr" indent="0" marL="0">
              <a:buNone/>
            </a:pPr>
            <a:r>
              <a:rPr lang="en-US" sz="1080" dirty="0">
                <a:solidFill>
                  <a:srgbClr val="5A677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HTTP / API.</a:t>
            </a:r>
            <a:endParaRPr lang="en-US" sz="1080" dirty="0"/>
          </a:p>
        </p:txBody>
      </p:sp>
      <p:sp>
        <p:nvSpPr>
          <p:cNvPr id="18" name="Shape 16"/>
          <p:cNvSpPr/>
          <p:nvPr/>
        </p:nvSpPr>
        <p:spPr>
          <a:xfrm>
            <a:off x="2724912" y="3401568"/>
            <a:ext cx="301752" cy="0"/>
          </a:xfrm>
          <a:prstGeom prst="line">
            <a:avLst/>
          </a:prstGeom>
          <a:noFill/>
          <a:ln w="22860">
            <a:solidFill>
              <a:srgbClr val="073B78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3063240" y="2834640"/>
            <a:ext cx="1828800" cy="1143000"/>
          </a:xfrm>
          <a:prstGeom prst="roundRect">
            <a:avLst>
              <a:gd name="adj" fmla="val 4800"/>
            </a:avLst>
          </a:prstGeom>
          <a:solidFill>
            <a:srgbClr val="EAF9F7"/>
          </a:solidFill>
          <a:ln w="12700">
            <a:solidFill>
              <a:srgbClr val="BFE8E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721608" y="2331720"/>
            <a:ext cx="493776" cy="493776"/>
          </a:xfrm>
          <a:prstGeom prst="ellipse">
            <a:avLst/>
          </a:prstGeom>
          <a:solidFill>
            <a:srgbClr val="15989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3721608" y="2478024"/>
            <a:ext cx="49377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000" dirty="0"/>
          </a:p>
        </p:txBody>
      </p:sp>
      <p:sp>
        <p:nvSpPr>
          <p:cNvPr id="22" name="Text 20"/>
          <p:cNvSpPr txBox="1"/>
          <p:nvPr/>
        </p:nvSpPr>
        <p:spPr>
          <a:xfrm>
            <a:off x="3191256" y="3035808"/>
            <a:ext cx="15727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62A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Medir</a:t>
            </a:r>
            <a:endParaRPr lang="en-US" sz="1250" dirty="0"/>
          </a:p>
        </p:txBody>
      </p:sp>
      <p:sp>
        <p:nvSpPr>
          <p:cNvPr id="23" name="Text 21"/>
          <p:cNvSpPr txBox="1"/>
          <p:nvPr/>
        </p:nvSpPr>
        <p:spPr>
          <a:xfrm>
            <a:off x="3209544" y="3364992"/>
            <a:ext cx="1536192" cy="3474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ctr" indent="0" marL="0">
              <a:buNone/>
            </a:pPr>
            <a:r>
              <a:rPr lang="en-US" sz="1080" dirty="0">
                <a:solidFill>
                  <a:srgbClr val="5A677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MQTT.</a:t>
            </a:r>
            <a:endParaRPr lang="en-US" sz="1080" dirty="0"/>
          </a:p>
        </p:txBody>
      </p:sp>
      <p:sp>
        <p:nvSpPr>
          <p:cNvPr id="24" name="Shape 22"/>
          <p:cNvSpPr/>
          <p:nvPr/>
        </p:nvSpPr>
        <p:spPr>
          <a:xfrm>
            <a:off x="4965192" y="3401568"/>
            <a:ext cx="301752" cy="0"/>
          </a:xfrm>
          <a:prstGeom prst="line">
            <a:avLst/>
          </a:prstGeom>
          <a:noFill/>
          <a:ln w="22860">
            <a:solidFill>
              <a:srgbClr val="073B78"/>
            </a:solidFill>
            <a:prstDash val="solid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5303520" y="2834640"/>
            <a:ext cx="1828800" cy="1143000"/>
          </a:xfrm>
          <a:prstGeom prst="roundRect">
            <a:avLst>
              <a:gd name="adj" fmla="val 4800"/>
            </a:avLst>
          </a:prstGeom>
          <a:solidFill>
            <a:srgbClr val="EAF4FF"/>
          </a:solidFill>
          <a:ln w="12700">
            <a:solidFill>
              <a:srgbClr val="B9D6F2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961888" y="2331720"/>
            <a:ext cx="493776" cy="493776"/>
          </a:xfrm>
          <a:prstGeom prst="ellipse">
            <a:avLst/>
          </a:prstGeom>
          <a:solidFill>
            <a:srgbClr val="F28C1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5961888" y="2478024"/>
            <a:ext cx="49377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000" dirty="0"/>
          </a:p>
        </p:txBody>
      </p:sp>
      <p:sp>
        <p:nvSpPr>
          <p:cNvPr id="28" name="Text 26"/>
          <p:cNvSpPr txBox="1"/>
          <p:nvPr/>
        </p:nvSpPr>
        <p:spPr>
          <a:xfrm>
            <a:off x="5431536" y="3035808"/>
            <a:ext cx="15727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62A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Visualizar</a:t>
            </a:r>
            <a:endParaRPr lang="en-US" sz="1250" dirty="0"/>
          </a:p>
        </p:txBody>
      </p:sp>
      <p:sp>
        <p:nvSpPr>
          <p:cNvPr id="29" name="Text 27"/>
          <p:cNvSpPr txBox="1"/>
          <p:nvPr/>
        </p:nvSpPr>
        <p:spPr>
          <a:xfrm>
            <a:off x="5449824" y="3364992"/>
            <a:ext cx="1536192" cy="3474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ctr" indent="0" marL="0">
              <a:buNone/>
            </a:pPr>
            <a:r>
              <a:rPr lang="en-US" sz="1080" dirty="0">
                <a:solidFill>
                  <a:srgbClr val="5A677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WebSocket.</a:t>
            </a:r>
            <a:endParaRPr lang="en-US" sz="1080" dirty="0"/>
          </a:p>
        </p:txBody>
      </p:sp>
      <p:sp>
        <p:nvSpPr>
          <p:cNvPr id="30" name="Shape 28"/>
          <p:cNvSpPr/>
          <p:nvPr/>
        </p:nvSpPr>
        <p:spPr>
          <a:xfrm>
            <a:off x="7205472" y="3401568"/>
            <a:ext cx="301752" cy="0"/>
          </a:xfrm>
          <a:prstGeom prst="line">
            <a:avLst/>
          </a:prstGeom>
          <a:noFill/>
          <a:ln w="22860">
            <a:solidFill>
              <a:srgbClr val="073B78"/>
            </a:solidFill>
            <a:prstDash val="solid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7543800" y="2834640"/>
            <a:ext cx="1828800" cy="1143000"/>
          </a:xfrm>
          <a:prstGeom prst="roundRect">
            <a:avLst>
              <a:gd name="adj" fmla="val 4800"/>
            </a:avLst>
          </a:prstGeom>
          <a:solidFill>
            <a:srgbClr val="EAF9F7"/>
          </a:solidFill>
          <a:ln w="12700">
            <a:solidFill>
              <a:srgbClr val="BFE8E2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8202168" y="2331720"/>
            <a:ext cx="493776" cy="493776"/>
          </a:xfrm>
          <a:prstGeom prst="ellipse">
            <a:avLst/>
          </a:prstGeom>
          <a:solidFill>
            <a:srgbClr val="073B7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8202168" y="2478024"/>
            <a:ext cx="49377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1000" dirty="0"/>
          </a:p>
        </p:txBody>
      </p:sp>
      <p:sp>
        <p:nvSpPr>
          <p:cNvPr id="34" name="Text 32"/>
          <p:cNvSpPr txBox="1"/>
          <p:nvPr/>
        </p:nvSpPr>
        <p:spPr>
          <a:xfrm>
            <a:off x="7671816" y="3035808"/>
            <a:ext cx="15727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62A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Almacenar</a:t>
            </a:r>
            <a:endParaRPr lang="en-US" sz="1250" dirty="0"/>
          </a:p>
        </p:txBody>
      </p:sp>
      <p:sp>
        <p:nvSpPr>
          <p:cNvPr id="35" name="Text 33"/>
          <p:cNvSpPr txBox="1"/>
          <p:nvPr/>
        </p:nvSpPr>
        <p:spPr>
          <a:xfrm>
            <a:off x="7690104" y="3364992"/>
            <a:ext cx="1536192" cy="3474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ctr" indent="0" marL="0">
              <a:buNone/>
            </a:pPr>
            <a:r>
              <a:rPr lang="en-US" sz="1080" dirty="0">
                <a:solidFill>
                  <a:srgbClr val="5A677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Base de datos.</a:t>
            </a:r>
            <a:endParaRPr lang="en-US" sz="1080" dirty="0"/>
          </a:p>
        </p:txBody>
      </p:sp>
      <p:sp>
        <p:nvSpPr>
          <p:cNvPr id="36" name="Shape 34"/>
          <p:cNvSpPr/>
          <p:nvPr/>
        </p:nvSpPr>
        <p:spPr>
          <a:xfrm>
            <a:off x="9445752" y="3401568"/>
            <a:ext cx="301752" cy="0"/>
          </a:xfrm>
          <a:prstGeom prst="line">
            <a:avLst/>
          </a:prstGeom>
          <a:noFill/>
          <a:ln w="22860">
            <a:solidFill>
              <a:srgbClr val="073B78"/>
            </a:solidFill>
            <a:prstDash val="solid"/>
            <a:tailEnd type="triangle"/>
          </a:ln>
        </p:spPr>
      </p:sp>
      <p:sp>
        <p:nvSpPr>
          <p:cNvPr id="37" name="Shape 35"/>
          <p:cNvSpPr/>
          <p:nvPr/>
        </p:nvSpPr>
        <p:spPr>
          <a:xfrm>
            <a:off x="9784080" y="2834640"/>
            <a:ext cx="1828800" cy="1143000"/>
          </a:xfrm>
          <a:prstGeom prst="roundRect">
            <a:avLst>
              <a:gd name="adj" fmla="val 4800"/>
            </a:avLst>
          </a:prstGeom>
          <a:solidFill>
            <a:srgbClr val="EAF4FF"/>
          </a:solidFill>
          <a:ln w="12700">
            <a:solidFill>
              <a:srgbClr val="B9D6F2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10442448" y="2331720"/>
            <a:ext cx="493776" cy="493776"/>
          </a:xfrm>
          <a:prstGeom prst="ellipse">
            <a:avLst/>
          </a:prstGeom>
          <a:solidFill>
            <a:srgbClr val="15989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10442448" y="2478024"/>
            <a:ext cx="49377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1000" dirty="0"/>
          </a:p>
        </p:txBody>
      </p:sp>
      <p:sp>
        <p:nvSpPr>
          <p:cNvPr id="40" name="Text 38"/>
          <p:cNvSpPr txBox="1"/>
          <p:nvPr/>
        </p:nvSpPr>
        <p:spPr>
          <a:xfrm>
            <a:off x="9912096" y="3035808"/>
            <a:ext cx="15727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62A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Alertar</a:t>
            </a:r>
            <a:endParaRPr lang="en-US" sz="1250" dirty="0"/>
          </a:p>
        </p:txBody>
      </p:sp>
      <p:sp>
        <p:nvSpPr>
          <p:cNvPr id="41" name="Text 39"/>
          <p:cNvSpPr txBox="1"/>
          <p:nvPr/>
        </p:nvSpPr>
        <p:spPr>
          <a:xfrm>
            <a:off x="9930384" y="3364992"/>
            <a:ext cx="1536192" cy="3474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ctr" indent="0" marL="0">
              <a:buNone/>
            </a:pPr>
            <a:r>
              <a:rPr lang="en-US" sz="1080" dirty="0">
                <a:solidFill>
                  <a:srgbClr val="5A677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Reglas y eventos.</a:t>
            </a:r>
            <a:endParaRPr lang="en-US" sz="1080" dirty="0"/>
          </a:p>
        </p:txBody>
      </p:sp>
      <p:sp>
        <p:nvSpPr>
          <p:cNvPr id="42" name="Shape 40"/>
          <p:cNvSpPr/>
          <p:nvPr/>
        </p:nvSpPr>
        <p:spPr>
          <a:xfrm>
            <a:off x="1143000" y="4892040"/>
            <a:ext cx="9921240" cy="731520"/>
          </a:xfrm>
          <a:prstGeom prst="roundRect">
            <a:avLst>
              <a:gd name="adj" fmla="val 7500"/>
            </a:avLst>
          </a:prstGeom>
          <a:solidFill>
            <a:srgbClr val="F7FAFD"/>
          </a:solidFill>
          <a:ln w="12700">
            <a:solidFill>
              <a:srgbClr val="D6E2EF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1389888" y="5138928"/>
            <a:ext cx="9418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¿Qué protocolo usaría para cada necesidad y por qué?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073B78"/>
          </a:solidFill>
          <a:ln w="12700">
            <a:solidFill>
              <a:srgbClr val="073B78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93992"/>
            <a:ext cx="12191695" cy="64008"/>
          </a:xfrm>
          <a:prstGeom prst="rect">
            <a:avLst/>
          </a:prstGeom>
          <a:solidFill>
            <a:srgbClr val="F28C18"/>
          </a:solidFill>
          <a:ln w="12700">
            <a:solidFill>
              <a:srgbClr val="F28C18">
                <a:alpha val="0"/>
              </a:srgbClr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347472" y="6492240"/>
            <a:ext cx="4754880" cy="16459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8290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Curso Vacacional: Redes de Datos y Aplicaciones IoT</a:t>
            </a:r>
            <a:endParaRPr lang="en-US" sz="750" dirty="0"/>
          </a:p>
        </p:txBody>
      </p:sp>
      <p:sp>
        <p:nvSpPr>
          <p:cNvPr id="5" name="Text 3"/>
          <p:cNvSpPr txBox="1"/>
          <p:nvPr/>
        </p:nvSpPr>
        <p:spPr>
          <a:xfrm>
            <a:off x="11201400" y="6492240"/>
            <a:ext cx="502920" cy="16459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r" indent="0" marL="0">
              <a:buNone/>
            </a:pPr>
            <a:r>
              <a:rPr lang="en-US" sz="750" dirty="0">
                <a:solidFill>
                  <a:srgbClr val="8290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3.8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411480" y="237744"/>
            <a:ext cx="1234440" cy="256032"/>
          </a:xfrm>
          <a:prstGeom prst="roundRect">
            <a:avLst>
              <a:gd name="adj" fmla="val 21429"/>
            </a:avLst>
          </a:prstGeom>
          <a:solidFill>
            <a:srgbClr val="073B78"/>
          </a:solidFill>
          <a:ln w="12700">
            <a:solidFill>
              <a:srgbClr val="073B78">
                <a:alpha val="0"/>
              </a:srgbClr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11480" y="278892"/>
            <a:ext cx="1234440" cy="10972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Actividad 3</a:t>
            </a:r>
            <a:endParaRPr lang="en-US" sz="850" dirty="0"/>
          </a:p>
        </p:txBody>
      </p:sp>
      <p:sp>
        <p:nvSpPr>
          <p:cNvPr id="8" name="Text 6"/>
          <p:cNvSpPr txBox="1"/>
          <p:nvPr/>
        </p:nvSpPr>
        <p:spPr>
          <a:xfrm>
            <a:off x="1828800" y="219456"/>
            <a:ext cx="6217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5989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Verificación formativa</a:t>
            </a:r>
            <a:endParaRPr lang="en-US" sz="950" dirty="0"/>
          </a:p>
        </p:txBody>
      </p:sp>
      <p:sp>
        <p:nvSpPr>
          <p:cNvPr id="9" name="Text 7"/>
          <p:cNvSpPr txBox="1"/>
          <p:nvPr/>
        </p:nvSpPr>
        <p:spPr>
          <a:xfrm>
            <a:off x="475488" y="566928"/>
            <a:ext cx="10972800" cy="42062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62A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Actividad corta en clase</a:t>
            </a:r>
            <a:endParaRPr lang="en-US" sz="2700" dirty="0"/>
          </a:p>
        </p:txBody>
      </p:sp>
      <p:sp>
        <p:nvSpPr>
          <p:cNvPr id="10" name="Shape 8"/>
          <p:cNvSpPr/>
          <p:nvPr/>
        </p:nvSpPr>
        <p:spPr>
          <a:xfrm>
            <a:off x="475488" y="1024128"/>
            <a:ext cx="1325880" cy="0"/>
          </a:xfrm>
          <a:prstGeom prst="line">
            <a:avLst/>
          </a:prstGeom>
          <a:noFill/>
          <a:ln w="25400">
            <a:solidFill>
              <a:srgbClr val="F28C1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77240" y="1325880"/>
            <a:ext cx="10652760" cy="4160520"/>
          </a:xfrm>
          <a:prstGeom prst="roundRect">
            <a:avLst>
              <a:gd name="adj" fmla="val 1758"/>
            </a:avLst>
          </a:prstGeom>
          <a:solidFill>
            <a:srgbClr val="EAF9F7"/>
          </a:solidFill>
          <a:ln w="15240">
            <a:solidFill>
              <a:srgbClr val="BFE8E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051560" y="1673352"/>
            <a:ext cx="9921240" cy="3200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0C73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Seleccionar protocolo por escenario</a:t>
            </a:r>
            <a:endParaRPr lang="en-US" sz="2100" dirty="0"/>
          </a:p>
        </p:txBody>
      </p:sp>
      <p:sp>
        <p:nvSpPr>
          <p:cNvPr id="13" name="Text 11"/>
          <p:cNvSpPr txBox="1"/>
          <p:nvPr/>
        </p:nvSpPr>
        <p:spPr>
          <a:xfrm>
            <a:off x="1234440" y="2286000"/>
            <a:ext cx="9509760" cy="14173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ctr" indent="0" marL="0">
              <a:buNone/>
            </a:pPr>
            <a:r>
              <a:rPr lang="en-US" sz="1700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Compare tres casos: sensor cada 10 s, alarma eventual y dashboard en tiempo real. Seleccione protocolo, justifique ventajas y señale una limitación.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1691640" y="4434840"/>
            <a:ext cx="8732520" cy="384048"/>
          </a:xfrm>
          <a:prstGeom prst="roundRect">
            <a:avLst>
              <a:gd name="adj" fmla="val 11905"/>
            </a:avLst>
          </a:prstGeom>
          <a:solidFill>
            <a:srgbClr val="FFFFFF"/>
          </a:solidFill>
          <a:ln w="12700">
            <a:solidFill>
              <a:srgbClr val="A3D5CD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1874520" y="4562856"/>
            <a:ext cx="83667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280" b="1" dirty="0">
                <a:solidFill>
                  <a:srgbClr val="0C73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Evidencia: tabla comparativa HTTP vs MQTT vs WebSocket.</a:t>
            </a:r>
            <a:endParaRPr lang="en-US" sz="128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073B78"/>
          </a:solidFill>
          <a:ln w="12700">
            <a:solidFill>
              <a:srgbClr val="073B78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93992"/>
            <a:ext cx="12191695" cy="64008"/>
          </a:xfrm>
          <a:prstGeom prst="rect">
            <a:avLst/>
          </a:prstGeom>
          <a:solidFill>
            <a:srgbClr val="F28C18"/>
          </a:solidFill>
          <a:ln w="12700">
            <a:solidFill>
              <a:srgbClr val="F28C18">
                <a:alpha val="0"/>
              </a:srgbClr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347472" y="6492240"/>
            <a:ext cx="4754880" cy="16459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8290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Curso Vacacional: Redes de Datos y Aplicaciones IoT</a:t>
            </a:r>
            <a:endParaRPr lang="en-US" sz="750" dirty="0"/>
          </a:p>
        </p:txBody>
      </p:sp>
      <p:sp>
        <p:nvSpPr>
          <p:cNvPr id="5" name="Text 3"/>
          <p:cNvSpPr txBox="1"/>
          <p:nvPr/>
        </p:nvSpPr>
        <p:spPr>
          <a:xfrm>
            <a:off x="11201400" y="6492240"/>
            <a:ext cx="502920" cy="16459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r" indent="0" marL="0">
              <a:buNone/>
            </a:pPr>
            <a:r>
              <a:rPr lang="en-US" sz="750" dirty="0">
                <a:solidFill>
                  <a:srgbClr val="8290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3.9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411480" y="237744"/>
            <a:ext cx="1234440" cy="256032"/>
          </a:xfrm>
          <a:prstGeom prst="roundRect">
            <a:avLst>
              <a:gd name="adj" fmla="val 21429"/>
            </a:avLst>
          </a:prstGeom>
          <a:solidFill>
            <a:srgbClr val="073B78"/>
          </a:solidFill>
          <a:ln w="12700">
            <a:solidFill>
              <a:srgbClr val="073B78">
                <a:alpha val="0"/>
              </a:srgbClr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11480" y="278892"/>
            <a:ext cx="1234440" cy="10972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Actividad 3</a:t>
            </a:r>
            <a:endParaRPr lang="en-US" sz="850" dirty="0"/>
          </a:p>
        </p:txBody>
      </p:sp>
      <p:sp>
        <p:nvSpPr>
          <p:cNvPr id="8" name="Text 6"/>
          <p:cNvSpPr txBox="1"/>
          <p:nvPr/>
        </p:nvSpPr>
        <p:spPr>
          <a:xfrm>
            <a:off x="1828800" y="219456"/>
            <a:ext cx="6217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5989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Revisión conceptual</a:t>
            </a:r>
            <a:endParaRPr lang="en-US" sz="950" dirty="0"/>
          </a:p>
        </p:txBody>
      </p:sp>
      <p:sp>
        <p:nvSpPr>
          <p:cNvPr id="9" name="Text 7"/>
          <p:cNvSpPr txBox="1"/>
          <p:nvPr/>
        </p:nvSpPr>
        <p:spPr>
          <a:xfrm>
            <a:off x="475488" y="566928"/>
            <a:ext cx="10972800" cy="42062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62A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Preguntas de verificación</a:t>
            </a:r>
            <a:endParaRPr lang="en-US" sz="2700" dirty="0"/>
          </a:p>
        </p:txBody>
      </p:sp>
      <p:sp>
        <p:nvSpPr>
          <p:cNvPr id="10" name="Shape 8"/>
          <p:cNvSpPr/>
          <p:nvPr/>
        </p:nvSpPr>
        <p:spPr>
          <a:xfrm>
            <a:off x="475488" y="1024128"/>
            <a:ext cx="1325880" cy="0"/>
          </a:xfrm>
          <a:prstGeom prst="line">
            <a:avLst/>
          </a:prstGeom>
          <a:noFill/>
          <a:ln w="25400">
            <a:solidFill>
              <a:srgbClr val="F28C1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68680" y="1417320"/>
            <a:ext cx="1037844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D6E2E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060704" y="1554480"/>
            <a:ext cx="228600" cy="228600"/>
          </a:xfrm>
          <a:prstGeom prst="ellipse">
            <a:avLst/>
          </a:prstGeom>
          <a:solidFill>
            <a:srgbClr val="073B7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1417320" y="1572768"/>
            <a:ext cx="95554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70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¿Qué diferencia existe entre petición/respuesta y publicación/suscripción?</a:t>
            </a:r>
            <a:endParaRPr lang="en-US" sz="1470" dirty="0"/>
          </a:p>
        </p:txBody>
      </p:sp>
      <p:sp>
        <p:nvSpPr>
          <p:cNvPr id="14" name="Shape 12"/>
          <p:cNvSpPr/>
          <p:nvPr/>
        </p:nvSpPr>
        <p:spPr>
          <a:xfrm>
            <a:off x="868680" y="2167128"/>
            <a:ext cx="1037844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D6E2E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60704" y="2304288"/>
            <a:ext cx="228600" cy="228600"/>
          </a:xfrm>
          <a:prstGeom prst="ellipse">
            <a:avLst/>
          </a:prstGeom>
          <a:solidFill>
            <a:srgbClr val="15989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1417320" y="2322576"/>
            <a:ext cx="95554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70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¿Por qué MQTT suele ser eficiente para sensores?</a:t>
            </a:r>
            <a:endParaRPr lang="en-US" sz="1470" dirty="0"/>
          </a:p>
        </p:txBody>
      </p:sp>
      <p:sp>
        <p:nvSpPr>
          <p:cNvPr id="17" name="Shape 15"/>
          <p:cNvSpPr/>
          <p:nvPr/>
        </p:nvSpPr>
        <p:spPr>
          <a:xfrm>
            <a:off x="868680" y="2916936"/>
            <a:ext cx="1037844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D6E2E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060704" y="3054096"/>
            <a:ext cx="228600" cy="228600"/>
          </a:xfrm>
          <a:prstGeom prst="ellipse">
            <a:avLst/>
          </a:prstGeom>
          <a:solidFill>
            <a:srgbClr val="F28C1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1417320" y="3072384"/>
            <a:ext cx="95554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70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¿Cuándo es conveniente usar WebSocket?</a:t>
            </a:r>
            <a:endParaRPr lang="en-US" sz="1470" dirty="0"/>
          </a:p>
        </p:txBody>
      </p:sp>
      <p:sp>
        <p:nvSpPr>
          <p:cNvPr id="20" name="Shape 18"/>
          <p:cNvSpPr/>
          <p:nvPr/>
        </p:nvSpPr>
        <p:spPr>
          <a:xfrm>
            <a:off x="868680" y="3666744"/>
            <a:ext cx="1037844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D6E2E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60704" y="3803904"/>
            <a:ext cx="228600" cy="228600"/>
          </a:xfrm>
          <a:prstGeom prst="ellipse">
            <a:avLst/>
          </a:prstGeom>
          <a:solidFill>
            <a:srgbClr val="073B7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1417320" y="3822192"/>
            <a:ext cx="95554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70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¿Qué limitación puede tener HTTP para telemetría continua?</a:t>
            </a:r>
            <a:endParaRPr lang="en-US" sz="1470" dirty="0"/>
          </a:p>
        </p:txBody>
      </p:sp>
      <p:sp>
        <p:nvSpPr>
          <p:cNvPr id="23" name="Shape 21"/>
          <p:cNvSpPr/>
          <p:nvPr/>
        </p:nvSpPr>
        <p:spPr>
          <a:xfrm>
            <a:off x="868680" y="4416552"/>
            <a:ext cx="1037844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D6E2E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060704" y="4553712"/>
            <a:ext cx="228600" cy="228600"/>
          </a:xfrm>
          <a:prstGeom prst="ellipse">
            <a:avLst/>
          </a:prstGeom>
          <a:solidFill>
            <a:srgbClr val="15989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1417320" y="4572000"/>
            <a:ext cx="95554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70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¿Qué papel cumple la seguridad en la selección del protocolo?</a:t>
            </a:r>
            <a:endParaRPr lang="en-US" sz="147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073B78"/>
          </a:solidFill>
          <a:ln w="12700">
            <a:solidFill>
              <a:srgbClr val="073B78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93992"/>
            <a:ext cx="12191695" cy="64008"/>
          </a:xfrm>
          <a:prstGeom prst="rect">
            <a:avLst/>
          </a:prstGeom>
          <a:solidFill>
            <a:srgbClr val="F28C18"/>
          </a:solidFill>
          <a:ln w="12700">
            <a:solidFill>
              <a:srgbClr val="F28C18">
                <a:alpha val="0"/>
              </a:srgbClr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347472" y="6492240"/>
            <a:ext cx="4754880" cy="16459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8290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Curso Vacacional: Redes de Datos y Aplicaciones IoT</a:t>
            </a:r>
            <a:endParaRPr lang="en-US" sz="750" dirty="0"/>
          </a:p>
        </p:txBody>
      </p:sp>
      <p:sp>
        <p:nvSpPr>
          <p:cNvPr id="5" name="Text 3"/>
          <p:cNvSpPr txBox="1"/>
          <p:nvPr/>
        </p:nvSpPr>
        <p:spPr>
          <a:xfrm>
            <a:off x="11201400" y="6492240"/>
            <a:ext cx="502920" cy="16459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r" indent="0" marL="0">
              <a:buNone/>
            </a:pPr>
            <a:r>
              <a:rPr lang="en-US" sz="750" dirty="0">
                <a:solidFill>
                  <a:srgbClr val="8290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3.10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411480" y="237744"/>
            <a:ext cx="1234440" cy="256032"/>
          </a:xfrm>
          <a:prstGeom prst="roundRect">
            <a:avLst>
              <a:gd name="adj" fmla="val 21429"/>
            </a:avLst>
          </a:prstGeom>
          <a:solidFill>
            <a:srgbClr val="073B78"/>
          </a:solidFill>
          <a:ln w="12700">
            <a:solidFill>
              <a:srgbClr val="073B78">
                <a:alpha val="0"/>
              </a:srgbClr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11480" y="278892"/>
            <a:ext cx="1234440" cy="10972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Actividad 3</a:t>
            </a:r>
            <a:endParaRPr lang="en-US" sz="850" dirty="0"/>
          </a:p>
        </p:txBody>
      </p:sp>
      <p:sp>
        <p:nvSpPr>
          <p:cNvPr id="8" name="Text 6"/>
          <p:cNvSpPr txBox="1"/>
          <p:nvPr/>
        </p:nvSpPr>
        <p:spPr>
          <a:xfrm>
            <a:off x="1828800" y="219456"/>
            <a:ext cx="6217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5989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Aplicación progresiva</a:t>
            </a:r>
            <a:endParaRPr lang="en-US" sz="950" dirty="0"/>
          </a:p>
        </p:txBody>
      </p:sp>
      <p:sp>
        <p:nvSpPr>
          <p:cNvPr id="9" name="Text 7"/>
          <p:cNvSpPr txBox="1"/>
          <p:nvPr/>
        </p:nvSpPr>
        <p:spPr>
          <a:xfrm>
            <a:off x="475488" y="566928"/>
            <a:ext cx="10972800" cy="42062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62A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Conexión con el proyecto integrador</a:t>
            </a:r>
            <a:endParaRPr lang="en-US" sz="2700" dirty="0"/>
          </a:p>
        </p:txBody>
      </p:sp>
      <p:sp>
        <p:nvSpPr>
          <p:cNvPr id="10" name="Shape 8"/>
          <p:cNvSpPr/>
          <p:nvPr/>
        </p:nvSpPr>
        <p:spPr>
          <a:xfrm>
            <a:off x="475488" y="1024128"/>
            <a:ext cx="1325880" cy="0"/>
          </a:xfrm>
          <a:prstGeom prst="line">
            <a:avLst/>
          </a:prstGeom>
          <a:noFill/>
          <a:ln w="25400">
            <a:solidFill>
              <a:srgbClr val="F28C18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77240" y="1234440"/>
            <a:ext cx="10607040" cy="4114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5A677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proyecto integrador debe justificar el protocolo elegido.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1005840" y="2286000"/>
            <a:ext cx="1691640" cy="1691640"/>
          </a:xfrm>
          <a:prstGeom prst="roundRect">
            <a:avLst>
              <a:gd name="adj" fmla="val 3784"/>
            </a:avLst>
          </a:prstGeom>
          <a:solidFill>
            <a:srgbClr val="EAF4FF"/>
          </a:solidFill>
          <a:ln w="12700">
            <a:solidFill>
              <a:srgbClr val="B9D6F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591056" y="2542032"/>
            <a:ext cx="502920" cy="502920"/>
          </a:xfrm>
          <a:prstGeom prst="ellipse">
            <a:avLst/>
          </a:prstGeom>
          <a:solidFill>
            <a:srgbClr val="073B7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1591056" y="2688336"/>
            <a:ext cx="50292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1115568" y="3246120"/>
            <a:ext cx="1481328" cy="3474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ctr" indent="0" marL="0">
              <a:buNone/>
            </a:pPr>
            <a:r>
              <a:rPr lang="en-US" sz="1220" b="1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Tipo de dato</a:t>
            </a:r>
            <a:endParaRPr lang="en-US" sz="1220" dirty="0"/>
          </a:p>
        </p:txBody>
      </p:sp>
      <p:sp>
        <p:nvSpPr>
          <p:cNvPr id="16" name="Shape 14"/>
          <p:cNvSpPr/>
          <p:nvPr/>
        </p:nvSpPr>
        <p:spPr>
          <a:xfrm>
            <a:off x="2761488" y="3127248"/>
            <a:ext cx="329184" cy="0"/>
          </a:xfrm>
          <a:prstGeom prst="line">
            <a:avLst/>
          </a:prstGeom>
          <a:noFill/>
          <a:ln w="25400">
            <a:solidFill>
              <a:srgbClr val="073B78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3154680" y="2286000"/>
            <a:ext cx="1691640" cy="1691640"/>
          </a:xfrm>
          <a:prstGeom prst="roundRect">
            <a:avLst>
              <a:gd name="adj" fmla="val 3784"/>
            </a:avLst>
          </a:prstGeom>
          <a:solidFill>
            <a:srgbClr val="EAF9F7"/>
          </a:solidFill>
          <a:ln w="12700">
            <a:solidFill>
              <a:srgbClr val="BFE8E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739896" y="2542032"/>
            <a:ext cx="502920" cy="502920"/>
          </a:xfrm>
          <a:prstGeom prst="ellipse">
            <a:avLst/>
          </a:prstGeom>
          <a:solidFill>
            <a:srgbClr val="15989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3739896" y="2688336"/>
            <a:ext cx="50292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000" dirty="0"/>
          </a:p>
        </p:txBody>
      </p:sp>
      <p:sp>
        <p:nvSpPr>
          <p:cNvPr id="20" name="Text 18"/>
          <p:cNvSpPr txBox="1"/>
          <p:nvPr/>
        </p:nvSpPr>
        <p:spPr>
          <a:xfrm>
            <a:off x="3264408" y="3246120"/>
            <a:ext cx="1481328" cy="3474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ctr" indent="0" marL="0">
              <a:buNone/>
            </a:pPr>
            <a:r>
              <a:rPr lang="en-US" sz="1220" b="1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Frecuencia</a:t>
            </a:r>
            <a:endParaRPr lang="en-US" sz="1220" dirty="0"/>
          </a:p>
        </p:txBody>
      </p:sp>
      <p:sp>
        <p:nvSpPr>
          <p:cNvPr id="21" name="Shape 19"/>
          <p:cNvSpPr/>
          <p:nvPr/>
        </p:nvSpPr>
        <p:spPr>
          <a:xfrm>
            <a:off x="4910328" y="3127248"/>
            <a:ext cx="329184" cy="0"/>
          </a:xfrm>
          <a:prstGeom prst="line">
            <a:avLst/>
          </a:prstGeom>
          <a:noFill/>
          <a:ln w="25400">
            <a:solidFill>
              <a:srgbClr val="073B78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5303520" y="2286000"/>
            <a:ext cx="1691640" cy="1691640"/>
          </a:xfrm>
          <a:prstGeom prst="roundRect">
            <a:avLst>
              <a:gd name="adj" fmla="val 3784"/>
            </a:avLst>
          </a:prstGeom>
          <a:solidFill>
            <a:srgbClr val="EAF4FF"/>
          </a:solidFill>
          <a:ln w="12700">
            <a:solidFill>
              <a:srgbClr val="B9D6F2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888736" y="2542032"/>
            <a:ext cx="502920" cy="502920"/>
          </a:xfrm>
          <a:prstGeom prst="ellipse">
            <a:avLst/>
          </a:prstGeom>
          <a:solidFill>
            <a:srgbClr val="F28C1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5888736" y="2688336"/>
            <a:ext cx="50292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000" dirty="0"/>
          </a:p>
        </p:txBody>
      </p:sp>
      <p:sp>
        <p:nvSpPr>
          <p:cNvPr id="25" name="Text 23"/>
          <p:cNvSpPr txBox="1"/>
          <p:nvPr/>
        </p:nvSpPr>
        <p:spPr>
          <a:xfrm>
            <a:off x="5413248" y="3246120"/>
            <a:ext cx="1481328" cy="3474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ctr" indent="0" marL="0">
              <a:buNone/>
            </a:pPr>
            <a:r>
              <a:rPr lang="en-US" sz="1220" b="1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Latencia</a:t>
            </a:r>
            <a:endParaRPr lang="en-US" sz="1220" dirty="0"/>
          </a:p>
        </p:txBody>
      </p:sp>
      <p:sp>
        <p:nvSpPr>
          <p:cNvPr id="26" name="Shape 24"/>
          <p:cNvSpPr/>
          <p:nvPr/>
        </p:nvSpPr>
        <p:spPr>
          <a:xfrm>
            <a:off x="7059168" y="3127248"/>
            <a:ext cx="329184" cy="0"/>
          </a:xfrm>
          <a:prstGeom prst="line">
            <a:avLst/>
          </a:prstGeom>
          <a:noFill/>
          <a:ln w="25400">
            <a:solidFill>
              <a:srgbClr val="073B78"/>
            </a:solidFill>
            <a:prstDash val="solid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7452360" y="2286000"/>
            <a:ext cx="1691640" cy="1691640"/>
          </a:xfrm>
          <a:prstGeom prst="roundRect">
            <a:avLst>
              <a:gd name="adj" fmla="val 3784"/>
            </a:avLst>
          </a:prstGeom>
          <a:solidFill>
            <a:srgbClr val="EAF9F7"/>
          </a:solidFill>
          <a:ln w="12700">
            <a:solidFill>
              <a:srgbClr val="BFE8E2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037576" y="2542032"/>
            <a:ext cx="502920" cy="502920"/>
          </a:xfrm>
          <a:prstGeom prst="ellipse">
            <a:avLst/>
          </a:prstGeom>
          <a:solidFill>
            <a:srgbClr val="073B7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8037576" y="2688336"/>
            <a:ext cx="50292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1000" dirty="0"/>
          </a:p>
        </p:txBody>
      </p:sp>
      <p:sp>
        <p:nvSpPr>
          <p:cNvPr id="30" name="Text 28"/>
          <p:cNvSpPr txBox="1"/>
          <p:nvPr/>
        </p:nvSpPr>
        <p:spPr>
          <a:xfrm>
            <a:off x="7562088" y="3246120"/>
            <a:ext cx="1481328" cy="3474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ctr" indent="0" marL="0">
              <a:buNone/>
            </a:pPr>
            <a:r>
              <a:rPr lang="en-US" sz="1220" b="1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Seguridad</a:t>
            </a:r>
            <a:endParaRPr lang="en-US" sz="1220" dirty="0"/>
          </a:p>
        </p:txBody>
      </p:sp>
      <p:sp>
        <p:nvSpPr>
          <p:cNvPr id="31" name="Shape 29"/>
          <p:cNvSpPr/>
          <p:nvPr/>
        </p:nvSpPr>
        <p:spPr>
          <a:xfrm>
            <a:off x="9208008" y="3127248"/>
            <a:ext cx="329184" cy="0"/>
          </a:xfrm>
          <a:prstGeom prst="line">
            <a:avLst/>
          </a:prstGeom>
          <a:noFill/>
          <a:ln w="25400">
            <a:solidFill>
              <a:srgbClr val="073B78"/>
            </a:solidFill>
            <a:prstDash val="solid"/>
            <a:tailEnd type="triangle"/>
          </a:ln>
        </p:spPr>
      </p:sp>
      <p:sp>
        <p:nvSpPr>
          <p:cNvPr id="32" name="Shape 30"/>
          <p:cNvSpPr/>
          <p:nvPr/>
        </p:nvSpPr>
        <p:spPr>
          <a:xfrm>
            <a:off x="9601200" y="2286000"/>
            <a:ext cx="1691640" cy="1691640"/>
          </a:xfrm>
          <a:prstGeom prst="roundRect">
            <a:avLst>
              <a:gd name="adj" fmla="val 3784"/>
            </a:avLst>
          </a:prstGeom>
          <a:solidFill>
            <a:srgbClr val="EAF4FF"/>
          </a:solidFill>
          <a:ln w="12700">
            <a:solidFill>
              <a:srgbClr val="B9D6F2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10186416" y="2542032"/>
            <a:ext cx="502920" cy="502920"/>
          </a:xfrm>
          <a:prstGeom prst="ellipse">
            <a:avLst/>
          </a:prstGeom>
          <a:solidFill>
            <a:srgbClr val="15989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10186416" y="2688336"/>
            <a:ext cx="50292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1000" dirty="0"/>
          </a:p>
        </p:txBody>
      </p:sp>
      <p:sp>
        <p:nvSpPr>
          <p:cNvPr id="35" name="Text 33"/>
          <p:cNvSpPr txBox="1"/>
          <p:nvPr/>
        </p:nvSpPr>
        <p:spPr>
          <a:xfrm>
            <a:off x="9710928" y="3246120"/>
            <a:ext cx="1481328" cy="3474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ctr" indent="0" marL="0">
              <a:buNone/>
            </a:pPr>
            <a:r>
              <a:rPr lang="en-US" sz="1220" b="1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Protocolo</a:t>
            </a:r>
            <a:endParaRPr lang="en-US" sz="1220" dirty="0"/>
          </a:p>
        </p:txBody>
      </p:sp>
      <p:sp>
        <p:nvSpPr>
          <p:cNvPr id="36" name="Shape 34"/>
          <p:cNvSpPr/>
          <p:nvPr/>
        </p:nvSpPr>
        <p:spPr>
          <a:xfrm>
            <a:off x="1143000" y="4956048"/>
            <a:ext cx="9875520" cy="530352"/>
          </a:xfrm>
          <a:prstGeom prst="roundRect">
            <a:avLst>
              <a:gd name="adj" fmla="val 10345"/>
            </a:avLst>
          </a:prstGeom>
          <a:solidFill>
            <a:srgbClr val="FFF4E8"/>
          </a:solidFill>
          <a:ln w="12700">
            <a:solidFill>
              <a:srgbClr val="F6C89A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1325880" y="5157216"/>
            <a:ext cx="95097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440" b="1" dirty="0">
                <a:solidFill>
                  <a:srgbClr val="062A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Entrega sugerida: protocolo seleccionado y justificación técnica breve.</a:t>
            </a:r>
            <a:endParaRPr lang="en-US" sz="144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073B78"/>
          </a:solidFill>
          <a:ln w="12700">
            <a:solidFill>
              <a:srgbClr val="073B78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93992"/>
            <a:ext cx="12191695" cy="64008"/>
          </a:xfrm>
          <a:prstGeom prst="rect">
            <a:avLst/>
          </a:prstGeom>
          <a:solidFill>
            <a:srgbClr val="F28C18"/>
          </a:solidFill>
          <a:ln w="12700">
            <a:solidFill>
              <a:srgbClr val="F28C18">
                <a:alpha val="0"/>
              </a:srgbClr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347472" y="6492240"/>
            <a:ext cx="4754880" cy="16459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8290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Curso Vacacional: Redes de Datos y Aplicaciones IoT</a:t>
            </a:r>
            <a:endParaRPr lang="en-US" sz="750" dirty="0"/>
          </a:p>
        </p:txBody>
      </p:sp>
      <p:sp>
        <p:nvSpPr>
          <p:cNvPr id="5" name="Text 3"/>
          <p:cNvSpPr txBox="1"/>
          <p:nvPr/>
        </p:nvSpPr>
        <p:spPr>
          <a:xfrm>
            <a:off x="11201400" y="6492240"/>
            <a:ext cx="502920" cy="16459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r" indent="0" marL="0">
              <a:buNone/>
            </a:pPr>
            <a:r>
              <a:rPr lang="en-US" sz="750" dirty="0">
                <a:solidFill>
                  <a:srgbClr val="8290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3.11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411480" y="237744"/>
            <a:ext cx="1234440" cy="256032"/>
          </a:xfrm>
          <a:prstGeom prst="roundRect">
            <a:avLst>
              <a:gd name="adj" fmla="val 21429"/>
            </a:avLst>
          </a:prstGeom>
          <a:solidFill>
            <a:srgbClr val="073B78"/>
          </a:solidFill>
          <a:ln w="12700">
            <a:solidFill>
              <a:srgbClr val="073B78">
                <a:alpha val="0"/>
              </a:srgbClr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11480" y="278892"/>
            <a:ext cx="1234440" cy="10972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Actividad 3</a:t>
            </a:r>
            <a:endParaRPr lang="en-US" sz="850" dirty="0"/>
          </a:p>
        </p:txBody>
      </p:sp>
      <p:sp>
        <p:nvSpPr>
          <p:cNvPr id="8" name="Text 6"/>
          <p:cNvSpPr txBox="1"/>
          <p:nvPr/>
        </p:nvSpPr>
        <p:spPr>
          <a:xfrm>
            <a:off x="1828800" y="219456"/>
            <a:ext cx="6217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5989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Ideas clave</a:t>
            </a:r>
            <a:endParaRPr lang="en-US" sz="950" dirty="0"/>
          </a:p>
        </p:txBody>
      </p:sp>
      <p:sp>
        <p:nvSpPr>
          <p:cNvPr id="9" name="Text 7"/>
          <p:cNvSpPr txBox="1"/>
          <p:nvPr/>
        </p:nvSpPr>
        <p:spPr>
          <a:xfrm>
            <a:off x="475488" y="566928"/>
            <a:ext cx="10972800" cy="42062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62A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Síntesis de la actividad</a:t>
            </a:r>
            <a:endParaRPr lang="en-US" sz="2700" dirty="0"/>
          </a:p>
        </p:txBody>
      </p:sp>
      <p:sp>
        <p:nvSpPr>
          <p:cNvPr id="10" name="Shape 8"/>
          <p:cNvSpPr/>
          <p:nvPr/>
        </p:nvSpPr>
        <p:spPr>
          <a:xfrm>
            <a:off x="475488" y="1024128"/>
            <a:ext cx="1325880" cy="0"/>
          </a:xfrm>
          <a:prstGeom prst="line">
            <a:avLst/>
          </a:prstGeom>
          <a:noFill/>
          <a:ln w="25400">
            <a:solidFill>
              <a:srgbClr val="F28C1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04672" y="1554480"/>
            <a:ext cx="3154680" cy="960120"/>
          </a:xfrm>
          <a:prstGeom prst="roundRect">
            <a:avLst>
              <a:gd name="adj" fmla="val 6667"/>
            </a:avLst>
          </a:prstGeom>
          <a:solidFill>
            <a:srgbClr val="EAF4FF"/>
          </a:solidFill>
          <a:ln w="13970">
            <a:solidFill>
              <a:srgbClr val="073B7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69264" y="1856232"/>
            <a:ext cx="347472" cy="347472"/>
          </a:xfrm>
          <a:prstGeom prst="ellipse">
            <a:avLst/>
          </a:prstGeom>
          <a:solidFill>
            <a:srgbClr val="073B7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969264" y="1965960"/>
            <a:ext cx="347472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850" dirty="0"/>
          </a:p>
        </p:txBody>
      </p:sp>
      <p:sp>
        <p:nvSpPr>
          <p:cNvPr id="14" name="Text 12"/>
          <p:cNvSpPr txBox="1"/>
          <p:nvPr/>
        </p:nvSpPr>
        <p:spPr>
          <a:xfrm>
            <a:off x="1426464" y="1783080"/>
            <a:ext cx="2331720" cy="4114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ctr" indent="0" marL="0">
              <a:buNone/>
            </a:pPr>
            <a:r>
              <a:rPr lang="en-US" sz="1280" b="1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 protocolo define reglas de intercambio.</a:t>
            </a:r>
            <a:endParaRPr lang="en-US" sz="1280" dirty="0"/>
          </a:p>
        </p:txBody>
      </p:sp>
      <p:sp>
        <p:nvSpPr>
          <p:cNvPr id="15" name="Shape 13"/>
          <p:cNvSpPr/>
          <p:nvPr/>
        </p:nvSpPr>
        <p:spPr>
          <a:xfrm>
            <a:off x="4553712" y="1554480"/>
            <a:ext cx="3154680" cy="960120"/>
          </a:xfrm>
          <a:prstGeom prst="roundRect">
            <a:avLst>
              <a:gd name="adj" fmla="val 6667"/>
            </a:avLst>
          </a:prstGeom>
          <a:solidFill>
            <a:srgbClr val="EAF9F7"/>
          </a:solidFill>
          <a:ln w="13970">
            <a:solidFill>
              <a:srgbClr val="15989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718304" y="1856232"/>
            <a:ext cx="347472" cy="347472"/>
          </a:xfrm>
          <a:prstGeom prst="ellipse">
            <a:avLst/>
          </a:prstGeom>
          <a:solidFill>
            <a:srgbClr val="15989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718304" y="1965960"/>
            <a:ext cx="347472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850" dirty="0"/>
          </a:p>
        </p:txBody>
      </p:sp>
      <p:sp>
        <p:nvSpPr>
          <p:cNvPr id="18" name="Text 16"/>
          <p:cNvSpPr txBox="1"/>
          <p:nvPr/>
        </p:nvSpPr>
        <p:spPr>
          <a:xfrm>
            <a:off x="5175504" y="1783080"/>
            <a:ext cx="2331720" cy="4114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ctr" indent="0" marL="0">
              <a:buNone/>
            </a:pPr>
            <a:r>
              <a:rPr lang="en-US" sz="1280" b="1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HTTP es simple para consultas y APIs.</a:t>
            </a:r>
            <a:endParaRPr lang="en-US" sz="1280" dirty="0"/>
          </a:p>
        </p:txBody>
      </p:sp>
      <p:sp>
        <p:nvSpPr>
          <p:cNvPr id="19" name="Shape 17"/>
          <p:cNvSpPr/>
          <p:nvPr/>
        </p:nvSpPr>
        <p:spPr>
          <a:xfrm>
            <a:off x="8302752" y="1554480"/>
            <a:ext cx="3154680" cy="960120"/>
          </a:xfrm>
          <a:prstGeom prst="roundRect">
            <a:avLst>
              <a:gd name="adj" fmla="val 6667"/>
            </a:avLst>
          </a:prstGeom>
          <a:solidFill>
            <a:srgbClr val="FFF4E8"/>
          </a:solidFill>
          <a:ln w="13970">
            <a:solidFill>
              <a:srgbClr val="F28C1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467344" y="1856232"/>
            <a:ext cx="347472" cy="347472"/>
          </a:xfrm>
          <a:prstGeom prst="ellipse">
            <a:avLst/>
          </a:prstGeom>
          <a:solidFill>
            <a:srgbClr val="F28C1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8467344" y="1965960"/>
            <a:ext cx="347472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850" dirty="0"/>
          </a:p>
        </p:txBody>
      </p:sp>
      <p:sp>
        <p:nvSpPr>
          <p:cNvPr id="22" name="Text 20"/>
          <p:cNvSpPr txBox="1"/>
          <p:nvPr/>
        </p:nvSpPr>
        <p:spPr>
          <a:xfrm>
            <a:off x="8924544" y="1783080"/>
            <a:ext cx="2331720" cy="4114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ctr" indent="0" marL="0">
              <a:buNone/>
            </a:pPr>
            <a:r>
              <a:rPr lang="en-US" sz="1280" b="1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MQTT es ligero para telemetría.</a:t>
            </a:r>
            <a:endParaRPr lang="en-US" sz="1280" dirty="0"/>
          </a:p>
        </p:txBody>
      </p:sp>
      <p:sp>
        <p:nvSpPr>
          <p:cNvPr id="23" name="Shape 21"/>
          <p:cNvSpPr/>
          <p:nvPr/>
        </p:nvSpPr>
        <p:spPr>
          <a:xfrm>
            <a:off x="804672" y="3063240"/>
            <a:ext cx="3154680" cy="960120"/>
          </a:xfrm>
          <a:prstGeom prst="roundRect">
            <a:avLst>
              <a:gd name="adj" fmla="val 6667"/>
            </a:avLst>
          </a:prstGeom>
          <a:solidFill>
            <a:srgbClr val="EAF4FF"/>
          </a:solidFill>
          <a:ln w="13970">
            <a:solidFill>
              <a:srgbClr val="073B7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969264" y="3364992"/>
            <a:ext cx="347472" cy="347472"/>
          </a:xfrm>
          <a:prstGeom prst="ellipse">
            <a:avLst/>
          </a:prstGeom>
          <a:solidFill>
            <a:srgbClr val="073B7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969264" y="3474720"/>
            <a:ext cx="347472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850" dirty="0"/>
          </a:p>
        </p:txBody>
      </p:sp>
      <p:sp>
        <p:nvSpPr>
          <p:cNvPr id="26" name="Text 24"/>
          <p:cNvSpPr txBox="1"/>
          <p:nvPr/>
        </p:nvSpPr>
        <p:spPr>
          <a:xfrm>
            <a:off x="1426464" y="3291840"/>
            <a:ext cx="2331720" cy="4114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ctr" indent="0" marL="0">
              <a:buNone/>
            </a:pPr>
            <a:r>
              <a:rPr lang="en-US" sz="1280" b="1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WebSocket permite interacción persistente.</a:t>
            </a:r>
            <a:endParaRPr lang="en-US" sz="1280" dirty="0"/>
          </a:p>
        </p:txBody>
      </p:sp>
      <p:sp>
        <p:nvSpPr>
          <p:cNvPr id="27" name="Shape 25"/>
          <p:cNvSpPr/>
          <p:nvPr/>
        </p:nvSpPr>
        <p:spPr>
          <a:xfrm>
            <a:off x="4553712" y="3063240"/>
            <a:ext cx="3154680" cy="960120"/>
          </a:xfrm>
          <a:prstGeom prst="roundRect">
            <a:avLst>
              <a:gd name="adj" fmla="val 6667"/>
            </a:avLst>
          </a:prstGeom>
          <a:solidFill>
            <a:srgbClr val="EAF9F7"/>
          </a:solidFill>
          <a:ln w="13970">
            <a:solidFill>
              <a:srgbClr val="159895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718304" y="3364992"/>
            <a:ext cx="347472" cy="347472"/>
          </a:xfrm>
          <a:prstGeom prst="ellipse">
            <a:avLst/>
          </a:prstGeom>
          <a:solidFill>
            <a:srgbClr val="15989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4718304" y="3474720"/>
            <a:ext cx="347472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850" dirty="0"/>
          </a:p>
        </p:txBody>
      </p:sp>
      <p:sp>
        <p:nvSpPr>
          <p:cNvPr id="30" name="Text 28"/>
          <p:cNvSpPr txBox="1"/>
          <p:nvPr/>
        </p:nvSpPr>
        <p:spPr>
          <a:xfrm>
            <a:off x="5175504" y="3291840"/>
            <a:ext cx="2331720" cy="4114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ctr" indent="0" marL="0">
              <a:buNone/>
            </a:pPr>
            <a:r>
              <a:rPr lang="en-US" sz="1280" b="1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frecuencia de datos orienta la selección.</a:t>
            </a:r>
            <a:endParaRPr lang="en-US" sz="1280" dirty="0"/>
          </a:p>
        </p:txBody>
      </p:sp>
      <p:sp>
        <p:nvSpPr>
          <p:cNvPr id="31" name="Shape 29"/>
          <p:cNvSpPr/>
          <p:nvPr/>
        </p:nvSpPr>
        <p:spPr>
          <a:xfrm>
            <a:off x="8302752" y="3063240"/>
            <a:ext cx="3154680" cy="960120"/>
          </a:xfrm>
          <a:prstGeom prst="roundRect">
            <a:avLst>
              <a:gd name="adj" fmla="val 6667"/>
            </a:avLst>
          </a:prstGeom>
          <a:solidFill>
            <a:srgbClr val="FFF4E8"/>
          </a:solidFill>
          <a:ln w="13970">
            <a:solidFill>
              <a:srgbClr val="F28C18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8467344" y="3364992"/>
            <a:ext cx="347472" cy="347472"/>
          </a:xfrm>
          <a:prstGeom prst="ellipse">
            <a:avLst/>
          </a:prstGeom>
          <a:solidFill>
            <a:srgbClr val="F28C1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8467344" y="3474720"/>
            <a:ext cx="347472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</a:t>
            </a:r>
            <a:endParaRPr lang="en-US" sz="850" dirty="0"/>
          </a:p>
        </p:txBody>
      </p:sp>
      <p:sp>
        <p:nvSpPr>
          <p:cNvPr id="34" name="Text 32"/>
          <p:cNvSpPr txBox="1"/>
          <p:nvPr/>
        </p:nvSpPr>
        <p:spPr>
          <a:xfrm>
            <a:off x="8924544" y="3291840"/>
            <a:ext cx="2331720" cy="4114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ctr" indent="0" marL="0">
              <a:buNone/>
            </a:pPr>
            <a:r>
              <a:rPr lang="en-US" sz="1280" b="1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seguridad debe estar presente desde el diseño.</a:t>
            </a:r>
            <a:endParaRPr lang="en-US" sz="1280" dirty="0"/>
          </a:p>
        </p:txBody>
      </p:sp>
      <p:sp>
        <p:nvSpPr>
          <p:cNvPr id="35" name="Shape 33"/>
          <p:cNvSpPr/>
          <p:nvPr/>
        </p:nvSpPr>
        <p:spPr>
          <a:xfrm>
            <a:off x="1051560" y="5138928"/>
            <a:ext cx="10058400" cy="457200"/>
          </a:xfrm>
          <a:prstGeom prst="roundRect">
            <a:avLst>
              <a:gd name="adj" fmla="val 12000"/>
            </a:avLst>
          </a:prstGeom>
          <a:solidFill>
            <a:srgbClr val="062A57"/>
          </a:solidFill>
          <a:ln w="12700">
            <a:solidFill>
              <a:srgbClr val="062A57">
                <a:alpha val="0"/>
              </a:srgbClr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1234440" y="5303520"/>
            <a:ext cx="96926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Conexión con el proyecto: justificar el protocolo según el comportamiento esperado de los datos.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073B78"/>
          </a:solidFill>
          <a:ln w="12700">
            <a:solidFill>
              <a:srgbClr val="073B78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93992"/>
            <a:ext cx="12191695" cy="64008"/>
          </a:xfrm>
          <a:prstGeom prst="rect">
            <a:avLst/>
          </a:prstGeom>
          <a:solidFill>
            <a:srgbClr val="F28C18"/>
          </a:solidFill>
          <a:ln w="12700">
            <a:solidFill>
              <a:srgbClr val="F28C18">
                <a:alpha val="0"/>
              </a:srgbClr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347472" y="6492240"/>
            <a:ext cx="4754880" cy="16459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8290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Curso Vacacional: Redes de Datos y Aplicaciones IoT</a:t>
            </a:r>
            <a:endParaRPr lang="en-US" sz="750" dirty="0"/>
          </a:p>
        </p:txBody>
      </p:sp>
      <p:sp>
        <p:nvSpPr>
          <p:cNvPr id="5" name="Text 3"/>
          <p:cNvSpPr txBox="1"/>
          <p:nvPr/>
        </p:nvSpPr>
        <p:spPr>
          <a:xfrm>
            <a:off x="11201400" y="6492240"/>
            <a:ext cx="502920" cy="16459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r" indent="0" marL="0">
              <a:buNone/>
            </a:pPr>
            <a:r>
              <a:rPr lang="en-US" sz="750" dirty="0">
                <a:solidFill>
                  <a:srgbClr val="8290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3.12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411480" y="237744"/>
            <a:ext cx="1234440" cy="256032"/>
          </a:xfrm>
          <a:prstGeom prst="roundRect">
            <a:avLst>
              <a:gd name="adj" fmla="val 21429"/>
            </a:avLst>
          </a:prstGeom>
          <a:solidFill>
            <a:srgbClr val="073B78"/>
          </a:solidFill>
          <a:ln w="12700">
            <a:solidFill>
              <a:srgbClr val="073B78">
                <a:alpha val="0"/>
              </a:srgbClr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11480" y="278892"/>
            <a:ext cx="1234440" cy="10972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Actividad 3</a:t>
            </a:r>
            <a:endParaRPr lang="en-US" sz="850" dirty="0"/>
          </a:p>
        </p:txBody>
      </p:sp>
      <p:sp>
        <p:nvSpPr>
          <p:cNvPr id="8" name="Text 6"/>
          <p:cNvSpPr txBox="1"/>
          <p:nvPr/>
        </p:nvSpPr>
        <p:spPr>
          <a:xfrm>
            <a:off x="1828800" y="219456"/>
            <a:ext cx="6217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5989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Lecturas para estudio independiente</a:t>
            </a:r>
            <a:endParaRPr lang="en-US" sz="950" dirty="0"/>
          </a:p>
        </p:txBody>
      </p:sp>
      <p:sp>
        <p:nvSpPr>
          <p:cNvPr id="9" name="Text 7"/>
          <p:cNvSpPr txBox="1"/>
          <p:nvPr/>
        </p:nvSpPr>
        <p:spPr>
          <a:xfrm>
            <a:off x="475488" y="566928"/>
            <a:ext cx="10972800" cy="42062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62A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Bibliografía y recursos de acceso libre</a:t>
            </a:r>
            <a:endParaRPr lang="en-US" sz="2700" dirty="0"/>
          </a:p>
        </p:txBody>
      </p:sp>
      <p:sp>
        <p:nvSpPr>
          <p:cNvPr id="10" name="Shape 8"/>
          <p:cNvSpPr/>
          <p:nvPr/>
        </p:nvSpPr>
        <p:spPr>
          <a:xfrm>
            <a:off x="475488" y="1024128"/>
            <a:ext cx="1325880" cy="0"/>
          </a:xfrm>
          <a:prstGeom prst="line">
            <a:avLst/>
          </a:prstGeom>
          <a:noFill/>
          <a:ln w="25400">
            <a:solidFill>
              <a:srgbClr val="F28C1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77240" y="1353312"/>
            <a:ext cx="10698480" cy="475488"/>
          </a:xfrm>
          <a:prstGeom prst="roundRect">
            <a:avLst>
              <a:gd name="adj" fmla="val 7692"/>
            </a:avLst>
          </a:prstGeom>
          <a:solidFill>
            <a:srgbClr val="EAF4FF"/>
          </a:solidFill>
          <a:ln w="12700">
            <a:solidFill>
              <a:srgbClr val="D6E2E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960120" y="1453896"/>
            <a:ext cx="21031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62A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Peter L. Dordal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3154680" y="1453896"/>
            <a:ext cx="48006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 Introduction to Computer Networks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8092440" y="1453896"/>
            <a:ext cx="30632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1020" dirty="0">
                <a:solidFill>
                  <a:srgbClr val="0C73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open.umn.edu</a:t>
            </a:r>
            <a:endParaRPr lang="en-US" sz="1020" dirty="0"/>
          </a:p>
        </p:txBody>
      </p:sp>
      <p:sp>
        <p:nvSpPr>
          <p:cNvPr id="15" name="Shape 13"/>
          <p:cNvSpPr/>
          <p:nvPr/>
        </p:nvSpPr>
        <p:spPr>
          <a:xfrm>
            <a:off x="777240" y="2066544"/>
            <a:ext cx="10698480" cy="475488"/>
          </a:xfrm>
          <a:prstGeom prst="roundRect">
            <a:avLst>
              <a:gd name="adj" fmla="val 7692"/>
            </a:avLst>
          </a:prstGeom>
          <a:solidFill>
            <a:srgbClr val="EAF9F7"/>
          </a:solidFill>
          <a:ln w="12700">
            <a:solidFill>
              <a:srgbClr val="D6E2E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960120" y="2167128"/>
            <a:ext cx="21031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62A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Peterson y Davie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3154680" y="2167128"/>
            <a:ext cx="48006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Computer Networks: A Systems Approach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8092440" y="2167128"/>
            <a:ext cx="30632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1020" dirty="0">
                <a:solidFill>
                  <a:srgbClr val="0C73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systemsapproach.org / GitHub</a:t>
            </a:r>
            <a:endParaRPr lang="en-US" sz="1020" dirty="0"/>
          </a:p>
        </p:txBody>
      </p:sp>
      <p:sp>
        <p:nvSpPr>
          <p:cNvPr id="19" name="Shape 17"/>
          <p:cNvSpPr/>
          <p:nvPr/>
        </p:nvSpPr>
        <p:spPr>
          <a:xfrm>
            <a:off x="777240" y="2779776"/>
            <a:ext cx="10698480" cy="475488"/>
          </a:xfrm>
          <a:prstGeom prst="roundRect">
            <a:avLst>
              <a:gd name="adj" fmla="val 7692"/>
            </a:avLst>
          </a:prstGeom>
          <a:solidFill>
            <a:srgbClr val="EAF4FF"/>
          </a:solidFill>
          <a:ln w="12700">
            <a:solidFill>
              <a:srgbClr val="D6E2EF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960120" y="2880360"/>
            <a:ext cx="21031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62A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Universidad de Colima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3154680" y="2880360"/>
            <a:ext cx="48006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Internet de las cosas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8092440" y="2880360"/>
            <a:ext cx="30632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1020" dirty="0">
                <a:solidFill>
                  <a:srgbClr val="0C73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PDF de acceso libre</a:t>
            </a:r>
            <a:endParaRPr lang="en-US" sz="1020" dirty="0"/>
          </a:p>
        </p:txBody>
      </p:sp>
      <p:sp>
        <p:nvSpPr>
          <p:cNvPr id="23" name="Shape 21"/>
          <p:cNvSpPr/>
          <p:nvPr/>
        </p:nvSpPr>
        <p:spPr>
          <a:xfrm>
            <a:off x="777240" y="3493008"/>
            <a:ext cx="10698480" cy="475488"/>
          </a:xfrm>
          <a:prstGeom prst="roundRect">
            <a:avLst>
              <a:gd name="adj" fmla="val 7692"/>
            </a:avLst>
          </a:prstGeom>
          <a:solidFill>
            <a:srgbClr val="EAF9F7"/>
          </a:solidFill>
          <a:ln w="12700">
            <a:solidFill>
              <a:srgbClr val="D6E2EF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960120" y="3593592"/>
            <a:ext cx="21031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62A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Internet Society</a:t>
            </a:r>
            <a:endParaRPr lang="en-US" sz="1100" dirty="0"/>
          </a:p>
        </p:txBody>
      </p:sp>
      <p:sp>
        <p:nvSpPr>
          <p:cNvPr id="25" name="Text 23"/>
          <p:cNvSpPr txBox="1"/>
          <p:nvPr/>
        </p:nvSpPr>
        <p:spPr>
          <a:xfrm>
            <a:off x="3154680" y="3593592"/>
            <a:ext cx="48006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Internet de las Cosas: una breve reseña</a:t>
            </a:r>
            <a:endParaRPr lang="en-US" sz="1100" dirty="0"/>
          </a:p>
        </p:txBody>
      </p:sp>
      <p:sp>
        <p:nvSpPr>
          <p:cNvPr id="26" name="Text 24"/>
          <p:cNvSpPr txBox="1"/>
          <p:nvPr/>
        </p:nvSpPr>
        <p:spPr>
          <a:xfrm>
            <a:off x="8092440" y="3593592"/>
            <a:ext cx="30632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1020" dirty="0">
                <a:solidFill>
                  <a:srgbClr val="0C73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internetsociety.org</a:t>
            </a:r>
            <a:endParaRPr lang="en-US" sz="1020" dirty="0"/>
          </a:p>
        </p:txBody>
      </p:sp>
      <p:sp>
        <p:nvSpPr>
          <p:cNvPr id="27" name="Shape 25"/>
          <p:cNvSpPr/>
          <p:nvPr/>
        </p:nvSpPr>
        <p:spPr>
          <a:xfrm>
            <a:off x="777240" y="4206240"/>
            <a:ext cx="10698480" cy="475488"/>
          </a:xfrm>
          <a:prstGeom prst="roundRect">
            <a:avLst>
              <a:gd name="adj" fmla="val 7692"/>
            </a:avLst>
          </a:prstGeom>
          <a:solidFill>
            <a:srgbClr val="EAF4FF"/>
          </a:solidFill>
          <a:ln w="12700">
            <a:solidFill>
              <a:srgbClr val="D6E2EF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960120" y="4306824"/>
            <a:ext cx="21031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62A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Node-RED</a:t>
            </a:r>
            <a:endParaRPr lang="en-US" sz="1100" dirty="0"/>
          </a:p>
        </p:txBody>
      </p:sp>
      <p:sp>
        <p:nvSpPr>
          <p:cNvPr id="29" name="Text 27"/>
          <p:cNvSpPr txBox="1"/>
          <p:nvPr/>
        </p:nvSpPr>
        <p:spPr>
          <a:xfrm>
            <a:off x="3154680" y="4306824"/>
            <a:ext cx="48006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Documentación oficial y cookbook MQTT</a:t>
            </a:r>
            <a:endParaRPr lang="en-US" sz="1100" dirty="0"/>
          </a:p>
        </p:txBody>
      </p:sp>
      <p:sp>
        <p:nvSpPr>
          <p:cNvPr id="30" name="Text 28"/>
          <p:cNvSpPr txBox="1"/>
          <p:nvPr/>
        </p:nvSpPr>
        <p:spPr>
          <a:xfrm>
            <a:off x="8092440" y="4306824"/>
            <a:ext cx="30632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1020" dirty="0">
                <a:solidFill>
                  <a:srgbClr val="0C73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nodered.org</a:t>
            </a:r>
            <a:endParaRPr lang="en-US" sz="1020" dirty="0"/>
          </a:p>
        </p:txBody>
      </p:sp>
      <p:sp>
        <p:nvSpPr>
          <p:cNvPr id="31" name="Shape 29"/>
          <p:cNvSpPr/>
          <p:nvPr/>
        </p:nvSpPr>
        <p:spPr>
          <a:xfrm>
            <a:off x="1005840" y="5559552"/>
            <a:ext cx="10149840" cy="411480"/>
          </a:xfrm>
          <a:prstGeom prst="roundRect">
            <a:avLst>
              <a:gd name="adj" fmla="val 11111"/>
            </a:avLst>
          </a:prstGeom>
          <a:solidFill>
            <a:srgbClr val="FFF4E8"/>
          </a:solidFill>
          <a:ln w="12700">
            <a:solidFill>
              <a:srgbClr val="F6C89A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1143000" y="5705856"/>
            <a:ext cx="98755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280" b="1" dirty="0">
                <a:solidFill>
                  <a:srgbClr val="062A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Sugerencia docente: asignar una lectura breve antes de cada evaluación parcial.</a:t>
            </a:r>
            <a:endParaRPr lang="en-US" sz="128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Universidad Antonio Nariño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Protocolos IoT: HTTP, MQTT y WebSocket</dc:title>
  <dc:subject>Protocolos IoT: HTTP, MQTT y WebSocket</dc:subject>
  <dc:creator>UAN - Curso Vacacional Redes de Datos e IoT</dc:creator>
  <cp:lastModifiedBy>UAN - Curso Vacacional Redes de Datos e IoT</cp:lastModifiedBy>
  <cp:revision>1</cp:revision>
  <dcterms:created xsi:type="dcterms:W3CDTF">2026-06-21T04:04:20Z</dcterms:created>
  <dcterms:modified xsi:type="dcterms:W3CDTF">2026-06-21T04:04:20Z</dcterms:modified>
</cp:coreProperties>
</file>