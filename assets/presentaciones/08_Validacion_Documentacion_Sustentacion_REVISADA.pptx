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5836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740664"/>
            <a:ext cx="1828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Teórica 8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7040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4 — Proyecto Integrador IoT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6583680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Validación, Documentación y Sustentación de Proyectos IoT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615184"/>
            <a:ext cx="612648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Preparar la evaluación final mediante pruebas, evidencias, informe técnico y sustentación organizada.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0" y="1078992"/>
            <a:ext cx="4160520" cy="3584448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pic>
        <p:nvPicPr>
          <p:cNvPr id="11" name="Image 0" descr="/mnt/data/ghostwriter_images/generated/a_clean_infographic_presentation_slide_style_illus_8_batch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792" y="1790507"/>
            <a:ext cx="3840480" cy="216141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86384" y="5074920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5266944"/>
            <a:ext cx="102870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prototipo funcional a la evidencia verificable: probar, documentar, explicar y mejorar.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635508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11064240" y="6355080"/>
            <a:ext cx="54864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8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Apoyo visual del tema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y sustentación del proyecto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170432"/>
            <a:ext cx="1092708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pic>
        <p:nvPicPr>
          <p:cNvPr id="12" name="Image 0" descr="/mnt/data/ghostwriter_images/generated/a_clean_infographic_presentation_slide_style_illus_8_batch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345" y="1298448"/>
            <a:ext cx="7392550" cy="41605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49808" y="5687568"/>
            <a:ext cx="10698480" cy="402336"/>
          </a:xfrm>
          <a:prstGeom prst="roundRect">
            <a:avLst>
              <a:gd name="adj" fmla="val 11364"/>
            </a:avLst>
          </a:prstGeom>
          <a:solidFill>
            <a:srgbClr val="EAF4FF"/>
          </a:solidFill>
          <a:ln w="12700">
            <a:solidFill>
              <a:srgbClr val="C7DA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6112" y="5815584"/>
            <a:ext cx="10378440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Panorama de pruebas, documentación, evidencias y sustentación de proyectos IoT.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8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4 — Proyecto Integrador IoT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 de aprendizaje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353312"/>
            <a:ext cx="585216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finalizar la sesión, el estudiante podrá: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1783080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1879092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1764792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pruebas básicas para un sistema IoT.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2441448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5374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2423160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evidencias técnicas de funcionamiento.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3099816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195828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3081528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Estructurar informe y sustentación final.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" y="3758184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854196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3739896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Plantear limitaciones y mejoras futuras del prototipo.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20840" y="1389888"/>
            <a:ext cx="4434840" cy="3246120"/>
          </a:xfrm>
          <a:prstGeom prst="roundRect">
            <a:avLst>
              <a:gd name="adj" fmla="val 225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95160" y="1664208"/>
            <a:ext cx="38862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observable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2221992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de chequeo de validación y preparación de sustentación.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178040" y="4069080"/>
            <a:ext cx="34290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69480" y="417880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breve para clase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8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 conceptual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es comprobar con evidencia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298448"/>
            <a:ext cx="1078992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solución IoT debe demostrar que mide, comunica, visualiza y responde de forma coherente.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EAF4FF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2203704"/>
            <a:ext cx="475488" cy="475488"/>
          </a:xfrm>
          <a:prstGeom prst="ellipse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49961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Conectividad, lectura de sensor, publicación MQTT, recepción en plataforma y visualización.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36168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EAF9F7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288" y="2203704"/>
            <a:ext cx="475488" cy="475488"/>
          </a:xfrm>
          <a:prstGeom prst="ellipse">
            <a:avLst/>
          </a:prstGeom>
          <a:solidFill>
            <a:srgbClr val="159895"/>
          </a:solidFill>
          <a:ln w="12700">
            <a:solidFill>
              <a:srgbClr val="159895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9028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20293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Arquitectura, código, configuración, capturas, resultados y limitaciones.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06500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FFF4E8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3608" y="2203704"/>
            <a:ext cx="475488" cy="475488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90625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Sustentación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Explicación clara del problema, metodología, resultados, evidencias y mejoras.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1005840" y="5504688"/>
            <a:ext cx="10195560" cy="438912"/>
          </a:xfrm>
          <a:prstGeom prst="roundRect">
            <a:avLst>
              <a:gd name="adj" fmla="val 10417"/>
            </a:avLst>
          </a:prstGeom>
          <a:solidFill>
            <a:srgbClr val="F7FAFD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88720" y="5650992"/>
            <a:ext cx="9829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no se documenta es difícil de evaluar y replicar.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8.5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8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técnica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de validación final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validación debe seguir un orden que permita ubicar fallas y demostrar resultados.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69771" y="2286000"/>
            <a:ext cx="512064" cy="512064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69771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22376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estable.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2684678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21838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97250" y="2286000"/>
            <a:ext cx="512064" cy="512064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97250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968142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949854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WiFi y broker.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4912157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49317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24728" y="2286000"/>
            <a:ext cx="512064" cy="512064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24728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195621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177333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Recepción y formato.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7139635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276795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52206" y="2286000"/>
            <a:ext cx="512064" cy="512064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52206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423099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404811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Visualización.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9367114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504274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79685" y="2286000"/>
            <a:ext cx="512064" cy="512064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279685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650578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9632290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y análisis.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960120" y="4828032"/>
            <a:ext cx="10287000" cy="749808"/>
          </a:xfrm>
          <a:prstGeom prst="roundRect">
            <a:avLst>
              <a:gd name="adj" fmla="val 7317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43000" y="5047488"/>
            <a:ext cx="9921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sustentación debe mostrar tanto funcionamiento como criterio técnico.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8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comparativo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Evidencias esperadas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234440"/>
            <a:ext cx="106070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evidencias deben permitir revisar, reproducir y evaluar el proyecto.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6583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EAF4FF"/>
          </a:solidFill>
          <a:ln w="15240">
            <a:solidFill>
              <a:srgbClr val="073B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1865376"/>
            <a:ext cx="3377184" cy="502920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Técnicas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Diagrama de arquitectura.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comentado.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 de broker/plataforma.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Capturas de datos.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3921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EAF9F7"/>
          </a:solidFill>
          <a:ln w="15240">
            <a:solidFill>
              <a:srgbClr val="15989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10456" y="1865376"/>
            <a:ext cx="3377184" cy="502920"/>
          </a:xfrm>
          <a:prstGeom prst="rect">
            <a:avLst/>
          </a:prstGeom>
          <a:solidFill>
            <a:srgbClr val="159895"/>
          </a:solidFill>
          <a:ln w="12700">
            <a:solidFill>
              <a:srgbClr val="159895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93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6482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8676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Conectividad comprobada.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482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8676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Valores actualizados.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46482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8676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funcional.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6482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8676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de errores o limitaciones.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1259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FFF4E8"/>
          </a:solidFill>
          <a:ln w="15240">
            <a:solidFill>
              <a:srgbClr val="F28C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44256" y="1865376"/>
            <a:ext cx="3377184" cy="502920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631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Sustentación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83820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6014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y objetivo.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83820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6014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Metodología clara.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83820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6014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y evidencias.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83820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86014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Mejoras futuras.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8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aplicado a Ingeniería Electrónica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guía: evaluación de prototipo IoT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89888"/>
            <a:ext cx="10652760" cy="658368"/>
          </a:xfrm>
          <a:prstGeom prst="roundRect">
            <a:avLst>
              <a:gd name="adj" fmla="val 9722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1627632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equipo presenta un sistema que mide, publica y visualiza datos, pero debe demostrar estabilidad y trazabilidad.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1328" y="2331720"/>
            <a:ext cx="493776" cy="493776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8132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5097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6926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72491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06324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1608" y="2331720"/>
            <a:ext cx="493776" cy="493776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2160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19125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20954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96519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30352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61888" y="2331720"/>
            <a:ext cx="493776" cy="493776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6188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3153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4982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720547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54380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02168" y="2331720"/>
            <a:ext cx="493776" cy="493776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0216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67181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69010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Tendencia.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944575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78408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42448" y="2331720"/>
            <a:ext cx="493776" cy="493776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44244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91209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993038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Conclusión.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1143000" y="4892040"/>
            <a:ext cx="9921240" cy="731520"/>
          </a:xfrm>
          <a:prstGeom prst="roundRect">
            <a:avLst>
              <a:gd name="adj" fmla="val 7500"/>
            </a:avLst>
          </a:prstGeom>
          <a:solidFill>
            <a:srgbClr val="F7FAFD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389888" y="51389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evidencia permitiría diferenciar una demostración puntual de un sistema validado?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8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 formativa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corta en clase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25880"/>
            <a:ext cx="10652760" cy="4160520"/>
          </a:xfrm>
          <a:prstGeom prst="roundRect">
            <a:avLst>
              <a:gd name="adj" fmla="val 1758"/>
            </a:avLst>
          </a:prstGeom>
          <a:solidFill>
            <a:srgbClr val="EAF9F7"/>
          </a:solidFill>
          <a:ln w="15240">
            <a:solidFill>
              <a:srgbClr val="BFE8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1673352"/>
            <a:ext cx="99212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Aplicar lista de chequeo final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286000"/>
            <a:ext cx="950976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sensor, conectividad, protocolo, plataforma, dashboard, evidencias, seguridad básica, informe y preparación de sustentación. Marque cumplimiento y observaciones.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691640" y="4434840"/>
            <a:ext cx="87325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3D5C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74520" y="4562856"/>
            <a:ext cx="8366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Evidencia: lista de chequeo de validación del proyecto IoT.</a:t>
            </a:r>
            <a:endParaRPr lang="en-US" sz="1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8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conceptual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de verificación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417320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0704" y="1554480"/>
            <a:ext cx="228600" cy="22860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1572768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significa validar un sistema IoT?</a:t>
            </a:r>
            <a:endParaRPr lang="en-US" sz="1470" dirty="0"/>
          </a:p>
        </p:txBody>
      </p:sp>
      <p:sp>
        <p:nvSpPr>
          <p:cNvPr id="14" name="Shape 12"/>
          <p:cNvSpPr/>
          <p:nvPr/>
        </p:nvSpPr>
        <p:spPr>
          <a:xfrm>
            <a:off x="868680" y="2167128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" y="2304288"/>
            <a:ext cx="228600" cy="22860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17320" y="2322576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prueba demuestra comunicación extremo a extremo?</a:t>
            </a:r>
            <a:endParaRPr lang="en-US" sz="1470" dirty="0"/>
          </a:p>
        </p:txBody>
      </p:sp>
      <p:sp>
        <p:nvSpPr>
          <p:cNvPr id="17" name="Shape 15"/>
          <p:cNvSpPr/>
          <p:nvPr/>
        </p:nvSpPr>
        <p:spPr>
          <a:xfrm>
            <a:off x="868680" y="2916936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0704" y="3054096"/>
            <a:ext cx="228600" cy="228600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17320" y="3072384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conviene registrar errores y limitaciones?</a:t>
            </a:r>
            <a:endParaRPr lang="en-US" sz="1470" dirty="0"/>
          </a:p>
        </p:txBody>
      </p:sp>
      <p:sp>
        <p:nvSpPr>
          <p:cNvPr id="20" name="Shape 18"/>
          <p:cNvSpPr/>
          <p:nvPr/>
        </p:nvSpPr>
        <p:spPr>
          <a:xfrm>
            <a:off x="868680" y="3666744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" y="3803904"/>
            <a:ext cx="228600" cy="22860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17320" y="3822192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debe contener una sustentación técnica clara?</a:t>
            </a:r>
            <a:endParaRPr lang="en-US" sz="1470" dirty="0"/>
          </a:p>
        </p:txBody>
      </p:sp>
      <p:sp>
        <p:nvSpPr>
          <p:cNvPr id="23" name="Shape 21"/>
          <p:cNvSpPr/>
          <p:nvPr/>
        </p:nvSpPr>
        <p:spPr>
          <a:xfrm>
            <a:off x="868680" y="4416552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704" y="4553712"/>
            <a:ext cx="228600" cy="22860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17320" y="4572000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se justifica una mejora futura?</a:t>
            </a:r>
            <a:endParaRPr lang="en-US" sz="14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8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 progresiva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 con el proyecto integrador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234440"/>
            <a:ext cx="106070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última actividad prepara la evaluación final del curso.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91056" y="2542032"/>
            <a:ext cx="502920" cy="50292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9105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276148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15468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9896" y="2542032"/>
            <a:ext cx="502920" cy="50292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3989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26440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Evidencias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491032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0352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88736" y="2542032"/>
            <a:ext cx="502920" cy="502920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8873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1324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705916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5236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37576" y="2542032"/>
            <a:ext cx="502920" cy="50292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3757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56208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Sustentación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920800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0120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86416" y="2542032"/>
            <a:ext cx="502920" cy="50292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8641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71092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Mejoras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1143000" y="4956048"/>
            <a:ext cx="9875520" cy="530352"/>
          </a:xfrm>
          <a:prstGeom prst="roundRect">
            <a:avLst>
              <a:gd name="adj" fmla="val 10345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325880" y="5157216"/>
            <a:ext cx="9509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sugerida: lista de chequeo completa y presentación final del proyecto.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8.11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8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clave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Síntesis de la actividad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3970">
            <a:solidFill>
              <a:srgbClr val="073B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1856232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42646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es demostrar funcionamiento con pruebas.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455371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9F7"/>
          </a:solidFill>
          <a:ln w="13970">
            <a:solidFill>
              <a:srgbClr val="15989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8304" y="1856232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1830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17550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documentación aporta trazabilidad.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830275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13970">
            <a:solidFill>
              <a:srgbClr val="F28C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67344" y="1856232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6734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92454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dashboard debe mostrar datos actuales.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80467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3970">
            <a:solidFill>
              <a:srgbClr val="073B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3364992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926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42646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limitaciones también son parte del análisis.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455371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9F7"/>
          </a:solidFill>
          <a:ln w="13970">
            <a:solidFill>
              <a:srgbClr val="15989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18304" y="3364992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1830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17550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sustentación debe ser clara y técnica.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830275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13970">
            <a:solidFill>
              <a:srgbClr val="F28C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67344" y="3364992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6734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892454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mejoras futuras muestran criterio ingenieril.</a:t>
            </a:r>
            <a:endParaRPr lang="en-US" sz="1280" dirty="0"/>
          </a:p>
        </p:txBody>
      </p:sp>
      <p:sp>
        <p:nvSpPr>
          <p:cNvPr id="35" name="Shape 33"/>
          <p:cNvSpPr/>
          <p:nvPr/>
        </p:nvSpPr>
        <p:spPr>
          <a:xfrm>
            <a:off x="1051560" y="5138928"/>
            <a:ext cx="10058400" cy="457200"/>
          </a:xfrm>
          <a:prstGeom prst="roundRect">
            <a:avLst>
              <a:gd name="adj" fmla="val 12000"/>
            </a:avLst>
          </a:prstGeom>
          <a:solidFill>
            <a:srgbClr val="062A57"/>
          </a:solidFill>
          <a:ln w="12700">
            <a:solidFill>
              <a:srgbClr val="062A57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234440" y="5303520"/>
            <a:ext cx="9692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 con el proyecto: preparar evidencias antes de la sustentación final.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8.12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8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Lecturas para estudio independiente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Bibliografía y recursos de acceso libre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53312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145389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Peter L. Dordal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1453896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Introduction to Computer Networks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1453896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open.umn.edu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77240" y="2066544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9F7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21671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Peterson y Davie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2167128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Networks: A Systems Approach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167128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systemsapproach.org / GitHub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77240" y="2779776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28803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de Colima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2880360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de las cosas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2880360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de acceso libre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77240" y="3493008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9F7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35935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Society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154680" y="3593592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Internet de las Cosas: una breve reseña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3593592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internetsociety.org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777240" y="4206240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" y="430682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Node-RED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154680" y="4306824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oficial y cookbook MQTT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4306824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nodered.org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1005840" y="5559552"/>
            <a:ext cx="10149840" cy="411480"/>
          </a:xfrm>
          <a:prstGeom prst="roundRect">
            <a:avLst>
              <a:gd name="adj" fmla="val 11111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43000" y="5705856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Sugerencia docente: asignar una lectura breve antes de cada evaluación parcial.</a:t>
            </a: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Universidad Antonio Nariño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Validación, Documentación y Sustentación de Proyectos IoT</dc:title>
  <dc:subject>Validación, Documentación y Sustentación de Proyectos IoT</dc:subject>
  <dc:creator>UAN - Curso Vacacional Redes de Datos e IoT</dc:creator>
  <cp:lastModifiedBy>UAN - Curso Vacacional Redes de Datos e IoT</cp:lastModifiedBy>
  <cp:revision>1</cp:revision>
  <dcterms:created xsi:type="dcterms:W3CDTF">2026-06-21T04:04:21Z</dcterms:created>
  <dcterms:modified xsi:type="dcterms:W3CDTF">2026-06-21T04:04:21Z</dcterms:modified>
</cp:coreProperties>
</file>