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5836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740664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Teórica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704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2 — Protocolos y Comunicación de Datos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658368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 y Arquitectura Publicador-Suscriptor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15184"/>
            <a:ext cx="612648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Profundizar en MQTT como protocolo de telemetría para sistemas IoT basados en sensores.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0" y="1078992"/>
            <a:ext cx="4160520" cy="358444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1" name="Image 0" descr="/mnt/data/ghostwriter_images/generated/a_clean_infographic_slide_style_illustration_about_4_batch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1790507"/>
            <a:ext cx="3840480" cy="216141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86384" y="5074920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5266944"/>
            <a:ext cx="10287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broker desacopla productores y consumidores de datos.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35508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55080"/>
            <a:ext cx="54864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visual del tema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publicador-suscriptor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170432"/>
            <a:ext cx="1092708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2" name="Image 0" descr="/mnt/data/ghostwriter_images/generated/a_clean_infographic_slide_style_illustration_about_4_batch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345" y="1298448"/>
            <a:ext cx="7392550" cy="4160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49808" y="5687568"/>
            <a:ext cx="10698480" cy="402336"/>
          </a:xfrm>
          <a:prstGeom prst="roundRect">
            <a:avLst>
              <a:gd name="adj" fmla="val 11364"/>
            </a:avLst>
          </a:prstGeom>
          <a:solidFill>
            <a:srgbClr val="EAF4FF"/>
          </a:solidFill>
          <a:ln w="12700">
            <a:solidFill>
              <a:srgbClr val="C7DA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5815584"/>
            <a:ext cx="1037844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Esquema del broker, los tópicos y el intercambio de mensajes entre publishers y subscribers.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2 — Protocolos y Comunicación de Datos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de aprendizaje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353312"/>
            <a:ext cx="58521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finalizar la sesión, el estudiante podrá: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1783080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1879092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1764792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el rol de broker, cliente, publisher y subscriber.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2441448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5374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una estructura de tópicos MQTT ordenada.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099816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195828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 payload, QoS, retained message y LWT.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3758184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85419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3739896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buenas prácticas y errores comunes.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20840" y="1389888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95160" y="1664208"/>
            <a:ext cx="3886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observable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221992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de tópicos MQTT para el proyecto integrador.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78040" y="4069080"/>
            <a:ext cx="34290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9480" y="417880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breve para clase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broker como centro de mensajería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298448"/>
            <a:ext cx="107899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 desacopla al dispositivo que publica datos de las aplicaciones que los consumen.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4FF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203704"/>
            <a:ext cx="475488" cy="475488"/>
          </a:xfrm>
          <a:prstGeom prst="ellipse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49961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Dispositivo o servicio que envía un mensaje a un tópico específico.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36168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9F7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2203704"/>
            <a:ext cx="475488" cy="475488"/>
          </a:xfrm>
          <a:prstGeom prst="ellipse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028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Servidor que recibe, enruta y entrega mensajes a los suscriptores.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6500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FFF4E8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2203704"/>
            <a:ext cx="475488" cy="475488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90625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que se suscribe a uno o varios tópicos para recibir datos.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1005840" y="5504688"/>
            <a:ext cx="10195560" cy="438912"/>
          </a:xfrm>
          <a:prstGeom prst="roundRect">
            <a:avLst>
              <a:gd name="adj" fmla="val 10417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88720" y="5650992"/>
            <a:ext cx="9829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tópico es la ruta lógica que ordena la información.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técnica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de un mensaje MQTT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dato no va directamente del sensor al dashboard; pasa por el broker.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69771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69771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genera dato.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2684678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21838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7250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97250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968142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949854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o texto.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912157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49317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24728" y="2286000"/>
            <a:ext cx="512064" cy="512064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24728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195621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177333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Envío al tópico.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7139635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276795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2206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52206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423099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04811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Enruta mensaje.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9367114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04274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79685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79685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650578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632290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al cliente.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960120" y="4828032"/>
            <a:ext cx="10287000" cy="749808"/>
          </a:xfrm>
          <a:prstGeom prst="roundRect">
            <a:avLst>
              <a:gd name="adj" fmla="val 7317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43000" y="5047488"/>
            <a:ext cx="9921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buena jerarquía de tópicos facilita escalabilidad, filtrado y mantenimiento.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comparativo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clave de MQTT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070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Estos elementos definen confiabilidad y comportamiento del mensaje.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583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4FF"/>
          </a:solidFill>
          <a:ln w="15240">
            <a:solidFill>
              <a:srgbClr val="073B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865376"/>
            <a:ext cx="3377184" cy="502920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y payload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Topic: ruta lógica.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Payload: contenido del mensaje.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JSON para mediciones.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nombres consistentes.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921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9F7"/>
          </a:solidFill>
          <a:ln w="15240">
            <a:solidFill>
              <a:srgbClr val="1598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0456" y="1865376"/>
            <a:ext cx="3377184" cy="502920"/>
          </a:xfrm>
          <a:prstGeom prst="rect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93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QoS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6482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676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QoS 0: entrega simple.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482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8676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QoS 1: al menos una vez.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6482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8676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QoS 2: exactamente una vez.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6482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8676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Mayor QoS implica más tráfico.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1259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FFF4E8"/>
          </a:solidFill>
          <a:ln w="15240">
            <a:solidFill>
              <a:srgbClr val="F28C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44256" y="1865376"/>
            <a:ext cx="3377184" cy="502920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631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Retained y LWT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3820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6014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Retained conserva último valor.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3820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6014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LWT avisa desconexión inesperada.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83820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6014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Útiles para estado del nodo.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3820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6014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retained en eventos críticos mal definidos.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aplicado a Ingeniería Electrónica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guía: monitoreo de laboratorio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89888"/>
            <a:ext cx="10652760" cy="658368"/>
          </a:xfrm>
          <a:prstGeom prst="roundRect">
            <a:avLst>
              <a:gd name="adj" fmla="val 9722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1627632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variables deben enviarse desde un nodo hacia dashboard y servicio de alertas.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8132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base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uan/lab1.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72491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6324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160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2160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19125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Temperatura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20954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96519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0352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61888" y="2331720"/>
            <a:ext cx="493776" cy="493776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6188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3153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Humedad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4982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20547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4380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0216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0216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67181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69010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puerta.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944575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8408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4244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4244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91209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993038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1143000" y="4892040"/>
            <a:ext cx="9921240" cy="731520"/>
          </a:xfrm>
          <a:prstGeom prst="roundRect">
            <a:avLst>
              <a:gd name="adj" fmla="val 7500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389888" y="5138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diseñaría tópicos para varios laboratorios y varios nodos?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formativa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corta en clase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25880"/>
            <a:ext cx="10652760" cy="4160520"/>
          </a:xfrm>
          <a:prstGeom prst="roundRect">
            <a:avLst>
              <a:gd name="adj" fmla="val 1758"/>
            </a:avLst>
          </a:prstGeom>
          <a:solidFill>
            <a:srgbClr val="EAF9F7"/>
          </a:solidFill>
          <a:ln w="15240">
            <a:solidFill>
              <a:srgbClr val="BFE8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1673352"/>
            <a:ext cx="99212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jerarquía de tópicos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286000"/>
            <a:ext cx="95097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Proponga una estructura MQTT para universidad, sede, laboratorio, nodo y variable. Incluya al menos tres variables y explique cómo se suscribiría un dashboard.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91640" y="4434840"/>
            <a:ext cx="87325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3D5C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4562856"/>
            <a:ext cx="8366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Evidencia: árbol de tópicos MQTT con ejemplos de mensajes.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verificación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417320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" y="1554480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1572768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¿Cuál es la función del broker MQTT?</a:t>
            </a:r>
            <a:endParaRPr lang="en-US" sz="1470" dirty="0"/>
          </a:p>
        </p:txBody>
      </p:sp>
      <p:sp>
        <p:nvSpPr>
          <p:cNvPr id="14" name="Shape 12"/>
          <p:cNvSpPr/>
          <p:nvPr/>
        </p:nvSpPr>
        <p:spPr>
          <a:xfrm>
            <a:off x="868680" y="2167128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2304288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2322576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no conviene usar tópicos desordenados?</a:t>
            </a:r>
            <a:endParaRPr lang="en-US" sz="1470" dirty="0"/>
          </a:p>
        </p:txBody>
      </p:sp>
      <p:sp>
        <p:nvSpPr>
          <p:cNvPr id="17" name="Shape 15"/>
          <p:cNvSpPr/>
          <p:nvPr/>
        </p:nvSpPr>
        <p:spPr>
          <a:xfrm>
            <a:off x="868680" y="2916936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3054096"/>
            <a:ext cx="228600" cy="22860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17320" y="3072384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hay entre topic y payload?</a:t>
            </a:r>
            <a:endParaRPr lang="en-US" sz="1470" dirty="0"/>
          </a:p>
        </p:txBody>
      </p:sp>
      <p:sp>
        <p:nvSpPr>
          <p:cNvPr id="20" name="Shape 18"/>
          <p:cNvSpPr/>
          <p:nvPr/>
        </p:nvSpPr>
        <p:spPr>
          <a:xfrm>
            <a:off x="868680" y="3666744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" y="3803904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17320" y="3822192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¿Cuándo sería útil QoS 1?</a:t>
            </a:r>
            <a:endParaRPr lang="en-US" sz="1470" dirty="0"/>
          </a:p>
        </p:txBody>
      </p:sp>
      <p:sp>
        <p:nvSpPr>
          <p:cNvPr id="23" name="Shape 21"/>
          <p:cNvSpPr/>
          <p:nvPr/>
        </p:nvSpPr>
        <p:spPr>
          <a:xfrm>
            <a:off x="868680" y="4416552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" y="4553712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4572000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problema resuelve Last Will and Testament?</a:t>
            </a:r>
            <a:endParaRPr lang="en-US" sz="14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progresiva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 integrador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234440"/>
            <a:ext cx="106070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de tópicos se usará directamente en el prototipo final.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9105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9105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276148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5468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3989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6440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base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91032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88736" y="2542032"/>
            <a:ext cx="502920" cy="50292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8873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1324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05916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5236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3757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3757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56208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920800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8641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8641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71092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Suscriptor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1143000" y="4956048"/>
            <a:ext cx="9875520" cy="530352"/>
          </a:xfrm>
          <a:prstGeom prst="roundRect">
            <a:avLst>
              <a:gd name="adj" fmla="val 10345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325880" y="5157216"/>
            <a:ext cx="9509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sugerida: topic tree y payload JSON de prueba.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clave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 de la actividad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185623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 trabaja con broker y tópicos.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455371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85623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1830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y subscriber no se conectan directamente.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830275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67344" y="185623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6734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92454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payload debe ser claro y consistente.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80467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36499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26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42646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QoS ajusta la confiabilidad del envío.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455371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8304" y="336499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17550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LWT ayuda a detectar desconexiones.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830275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67344" y="336499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6734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92454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tópicos deben diseñarse con jerarquía.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1051560" y="5138928"/>
            <a:ext cx="10058400" cy="457200"/>
          </a:xfrm>
          <a:prstGeom prst="roundRect">
            <a:avLst>
              <a:gd name="adj" fmla="val 12000"/>
            </a:avLst>
          </a:prstGeom>
          <a:solidFill>
            <a:srgbClr val="062A57"/>
          </a:solidFill>
          <a:ln w="12700">
            <a:solidFill>
              <a:srgbClr val="062A57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34440" y="5303520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proyecto: definir tópicos reales antes de programar el nodo IoT.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Lecturas para estudio independiente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Bibliografía y recursos de acceso libre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53312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45389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 L. Dordal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1453896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Introduction to Computer Networks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1453896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open.umn.edu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77240" y="2066544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21671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Peterson y Davie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2167128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Networks: A Systems Approach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167128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systemsapproach.org / GitHub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77240" y="2779776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28803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Colima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2880360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de las cosas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880360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de acceso libre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77240" y="3493008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35935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Society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154680" y="3593592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Internet de las Cosas: una breve reseña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3593592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internetsociety.org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77240" y="4206240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3068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154680" y="4306824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oficial y cookbook MQTT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4306824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nodered.org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005840" y="5559552"/>
            <a:ext cx="10149840" cy="411480"/>
          </a:xfrm>
          <a:prstGeom prst="roundRect">
            <a:avLst>
              <a:gd name="adj" fmla="val 11111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43000" y="570585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Sugerencia docente: asignar una lectura breve antes de cada evaluación parcial.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Antonio Nariño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MQTT y Arquitectura Publicador-Suscriptor</dc:title>
  <dc:subject>MQTT y Arquitectura Publicador-Suscriptor</dc:subject>
  <dc:creator>UAN - Curso Vacacional Redes de Datos e IoT</dc:creator>
  <cp:lastModifiedBy>UAN - Curso Vacacional Redes de Datos e IoT</cp:lastModifiedBy>
  <cp:revision>1</cp:revision>
  <dcterms:created xsi:type="dcterms:W3CDTF">2026-06-21T04:04:20Z</dcterms:created>
  <dcterms:modified xsi:type="dcterms:W3CDTF">2026-06-21T04:04:20Z</dcterms:modified>
</cp:coreProperties>
</file>